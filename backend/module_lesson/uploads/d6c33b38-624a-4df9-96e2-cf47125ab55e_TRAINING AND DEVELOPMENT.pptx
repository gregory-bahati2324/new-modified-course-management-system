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70" r:id="rId2"/>
    <p:sldId id="257" r:id="rId3"/>
    <p:sldId id="271" r:id="rId4"/>
    <p:sldId id="258" r:id="rId5"/>
    <p:sldId id="260" r:id="rId6"/>
    <p:sldId id="272" r:id="rId7"/>
    <p:sldId id="277" r:id="rId8"/>
    <p:sldId id="278" r:id="rId9"/>
    <p:sldId id="279" r:id="rId10"/>
    <p:sldId id="280" r:id="rId11"/>
    <p:sldId id="281" r:id="rId12"/>
    <p:sldId id="282" r:id="rId13"/>
    <p:sldId id="284" r:id="rId14"/>
    <p:sldId id="283" r:id="rId15"/>
    <p:sldId id="276" r:id="rId16"/>
    <p:sldId id="286" r:id="rId17"/>
    <p:sldId id="285" r:id="rId18"/>
    <p:sldId id="288" r:id="rId19"/>
    <p:sldId id="263" r:id="rId20"/>
    <p:sldId id="265" r:id="rId21"/>
    <p:sldId id="266" r:id="rId22"/>
    <p:sldId id="267" r:id="rId23"/>
    <p:sldId id="268" r:id="rId24"/>
    <p:sldId id="269" r:id="rId25"/>
    <p:sldId id="273" r:id="rId26"/>
    <p:sldId id="274"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6" d="100"/>
          <a:sy n="86" d="100"/>
        </p:scale>
        <p:origin x="930" y="45"/>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84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A68101-7FCC-4715-93F8-56BD1E34B382}" type="datetimeFigureOut">
              <a:rPr lang="en-US" smtClean="0"/>
              <a:t>1/15/2025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A82A4CB-1709-4B1C-8603-8334E47BF1D1}"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6" name="Rectangle 7"/>
          <p:cNvSpPr>
            <a:spLocks noGrp="1" noChangeArrowheads="1"/>
          </p:cNvSpPr>
          <p:nvPr>
            <p:ph type="sldNum" sz="quarter"/>
          </p:nvPr>
        </p:nvSpPr>
        <p:spPr>
          <a:noFill/>
        </p:spPr>
        <p:txBody>
          <a:bodyPr/>
          <a:lstStyle/>
          <a:p>
            <a:fld id="{F5650796-DC28-4D04-B1D8-C7A097B602B5}" type="slidenum">
              <a:rPr lang="en-US" smtClean="0"/>
              <a:t>5</a:t>
            </a:fld>
            <a:endParaRPr lang="en-US" smtClean="0"/>
          </a:p>
        </p:txBody>
      </p:sp>
      <p:sp>
        <p:nvSpPr>
          <p:cNvPr id="16387" name="Rectangle 1"/>
          <p:cNvSpPr>
            <a:spLocks noGrp="1" noRot="1" noChangeAspect="1" noChangeArrowheads="1" noTextEdit="1"/>
          </p:cNvSpPr>
          <p:nvPr>
            <p:ph type="sldImg"/>
          </p:nvPr>
        </p:nvSpPr>
        <p:spPr>
          <a:xfrm>
            <a:off x="1143000" y="685800"/>
            <a:ext cx="4572000" cy="3429000"/>
          </a:xfrm>
        </p:spPr>
      </p:sp>
      <p:sp>
        <p:nvSpPr>
          <p:cNvPr id="16388" name="Rectangle 2"/>
          <p:cNvSpPr>
            <a:spLocks noGrp="1" noChangeArrowheads="1"/>
          </p:cNvSpPr>
          <p:nvPr>
            <p:ph type="body" idx="1"/>
          </p:nvPr>
        </p:nvSpPr>
        <p:spPr>
          <a:xfrm>
            <a:off x="685800" y="4343400"/>
            <a:ext cx="5486400" cy="4114800"/>
          </a:xfrm>
          <a:noFill/>
        </p:spPr>
        <p:txBody>
          <a:bodyPr wrap="none" anchor="ctr"/>
          <a:lstStyle/>
          <a:p>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8" name="Rectangle 7"/>
          <p:cNvSpPr>
            <a:spLocks noGrp="1" noChangeArrowheads="1"/>
          </p:cNvSpPr>
          <p:nvPr>
            <p:ph type="sldNum" sz="quarter"/>
          </p:nvPr>
        </p:nvSpPr>
        <p:spPr>
          <a:noFill/>
        </p:spPr>
        <p:txBody>
          <a:bodyPr/>
          <a:lstStyle/>
          <a:p>
            <a:fld id="{F97E7437-4C7B-4FD7-95C1-C5C88445866C}" type="slidenum">
              <a:rPr lang="en-US" smtClean="0"/>
              <a:t>19</a:t>
            </a:fld>
            <a:endParaRPr lang="en-US" smtClean="0"/>
          </a:p>
        </p:txBody>
      </p:sp>
      <p:sp>
        <p:nvSpPr>
          <p:cNvPr id="19459" name="Rectangle 1"/>
          <p:cNvSpPr>
            <a:spLocks noGrp="1" noRot="1" noChangeAspect="1" noChangeArrowheads="1" noTextEdit="1"/>
          </p:cNvSpPr>
          <p:nvPr>
            <p:ph type="sldImg"/>
          </p:nvPr>
        </p:nvSpPr>
        <p:spPr>
          <a:xfrm>
            <a:off x="1143000" y="685800"/>
            <a:ext cx="4572000" cy="3429000"/>
          </a:xfrm>
        </p:spPr>
      </p:sp>
      <p:sp>
        <p:nvSpPr>
          <p:cNvPr id="19460" name="Rectangle 2"/>
          <p:cNvSpPr>
            <a:spLocks noGrp="1" noChangeArrowheads="1"/>
          </p:cNvSpPr>
          <p:nvPr>
            <p:ph type="body" idx="1"/>
          </p:nvPr>
        </p:nvSpPr>
        <p:spPr>
          <a:xfrm>
            <a:off x="685800" y="4343400"/>
            <a:ext cx="5486400" cy="4114800"/>
          </a:xfrm>
          <a:noFill/>
        </p:spPr>
        <p:txBody>
          <a:bodyPr wrap="none" anchor="ctr"/>
          <a:lstStyle/>
          <a:p>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7"/>
          <p:cNvSpPr>
            <a:spLocks noGrp="1" noChangeArrowheads="1"/>
          </p:cNvSpPr>
          <p:nvPr>
            <p:ph type="sldNum" sz="quarter"/>
          </p:nvPr>
        </p:nvSpPr>
        <p:spPr>
          <a:noFill/>
        </p:spPr>
        <p:txBody>
          <a:bodyPr/>
          <a:lstStyle/>
          <a:p>
            <a:fld id="{49C59E80-BBC1-480F-B7B4-B0CC545BAD7B}" type="slidenum">
              <a:rPr lang="en-US" smtClean="0"/>
              <a:t>20</a:t>
            </a:fld>
            <a:endParaRPr lang="en-US" smtClean="0"/>
          </a:p>
        </p:txBody>
      </p:sp>
      <p:sp>
        <p:nvSpPr>
          <p:cNvPr id="21507" name="Rectangle 1"/>
          <p:cNvSpPr>
            <a:spLocks noGrp="1" noRot="1" noChangeAspect="1" noChangeArrowheads="1" noTextEdit="1"/>
          </p:cNvSpPr>
          <p:nvPr>
            <p:ph type="sldImg"/>
          </p:nvPr>
        </p:nvSpPr>
        <p:spPr>
          <a:xfrm>
            <a:off x="1143000" y="685800"/>
            <a:ext cx="4572000" cy="3429000"/>
          </a:xfrm>
        </p:spPr>
      </p:sp>
      <p:sp>
        <p:nvSpPr>
          <p:cNvPr id="21508" name="Rectangle 2"/>
          <p:cNvSpPr>
            <a:spLocks noGrp="1" noChangeArrowheads="1"/>
          </p:cNvSpPr>
          <p:nvPr>
            <p:ph type="body" idx="1"/>
          </p:nvPr>
        </p:nvSpPr>
        <p:spPr>
          <a:xfrm>
            <a:off x="685800" y="4343400"/>
            <a:ext cx="5486400" cy="4114800"/>
          </a:xfrm>
          <a:noFill/>
        </p:spPr>
        <p:txBody>
          <a:bodyPr wrap="none" anchor="ctr"/>
          <a:lstStyle/>
          <a:p>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30" name="Rectangle 7"/>
          <p:cNvSpPr>
            <a:spLocks noGrp="1" noChangeArrowheads="1"/>
          </p:cNvSpPr>
          <p:nvPr>
            <p:ph type="sldNum" sz="quarter"/>
          </p:nvPr>
        </p:nvSpPr>
        <p:spPr>
          <a:noFill/>
        </p:spPr>
        <p:txBody>
          <a:bodyPr/>
          <a:lstStyle/>
          <a:p>
            <a:fld id="{1114E96D-4387-4679-A9B1-72E0189237A2}" type="slidenum">
              <a:rPr lang="en-US" smtClean="0"/>
              <a:t>21</a:t>
            </a:fld>
            <a:endParaRPr lang="en-US" smtClean="0"/>
          </a:p>
        </p:txBody>
      </p:sp>
      <p:sp>
        <p:nvSpPr>
          <p:cNvPr id="22531" name="Rectangle 1"/>
          <p:cNvSpPr>
            <a:spLocks noGrp="1" noRot="1" noChangeAspect="1" noChangeArrowheads="1" noTextEdit="1"/>
          </p:cNvSpPr>
          <p:nvPr>
            <p:ph type="sldImg"/>
          </p:nvPr>
        </p:nvSpPr>
        <p:spPr>
          <a:xfrm>
            <a:off x="1143000" y="685800"/>
            <a:ext cx="4572000" cy="3429000"/>
          </a:xfrm>
        </p:spPr>
      </p:sp>
      <p:sp>
        <p:nvSpPr>
          <p:cNvPr id="22532" name="Rectangle 2"/>
          <p:cNvSpPr>
            <a:spLocks noGrp="1" noChangeArrowheads="1"/>
          </p:cNvSpPr>
          <p:nvPr>
            <p:ph type="body" idx="1"/>
          </p:nvPr>
        </p:nvSpPr>
        <p:spPr>
          <a:xfrm>
            <a:off x="685800" y="4343400"/>
            <a:ext cx="5486400" cy="4114800"/>
          </a:xfrm>
          <a:noFill/>
        </p:spPr>
        <p:txBody>
          <a:bodyPr wrap="none" anchor="ctr"/>
          <a:lstStyle/>
          <a:p>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7"/>
          <p:cNvSpPr>
            <a:spLocks noGrp="1" noChangeArrowheads="1"/>
          </p:cNvSpPr>
          <p:nvPr>
            <p:ph type="sldNum" sz="quarter"/>
          </p:nvPr>
        </p:nvSpPr>
        <p:spPr>
          <a:noFill/>
        </p:spPr>
        <p:txBody>
          <a:bodyPr/>
          <a:lstStyle/>
          <a:p>
            <a:fld id="{8036CF69-1656-4A1D-B244-4EB18B251077}" type="slidenum">
              <a:rPr lang="en-US" smtClean="0"/>
              <a:t>22</a:t>
            </a:fld>
            <a:endParaRPr lang="en-US" smtClean="0"/>
          </a:p>
        </p:txBody>
      </p:sp>
      <p:sp>
        <p:nvSpPr>
          <p:cNvPr id="23555" name="Rectangle 1"/>
          <p:cNvSpPr>
            <a:spLocks noGrp="1" noRot="1" noChangeAspect="1" noChangeArrowheads="1" noTextEdit="1"/>
          </p:cNvSpPr>
          <p:nvPr>
            <p:ph type="sldImg"/>
          </p:nvPr>
        </p:nvSpPr>
        <p:spPr>
          <a:xfrm>
            <a:off x="1143000" y="685800"/>
            <a:ext cx="4572000" cy="3429000"/>
          </a:xfrm>
        </p:spPr>
      </p:sp>
      <p:sp>
        <p:nvSpPr>
          <p:cNvPr id="23556" name="Rectangle 2"/>
          <p:cNvSpPr>
            <a:spLocks noGrp="1" noChangeArrowheads="1"/>
          </p:cNvSpPr>
          <p:nvPr>
            <p:ph type="body" idx="1"/>
          </p:nvPr>
        </p:nvSpPr>
        <p:spPr>
          <a:xfrm>
            <a:off x="685800" y="4343400"/>
            <a:ext cx="5486400" cy="4114800"/>
          </a:xfrm>
          <a:noFill/>
        </p:spPr>
        <p:txBody>
          <a:bodyPr wrap="none" anchor="ctr"/>
          <a:lstStyle/>
          <a:p>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Rectangle 7"/>
          <p:cNvSpPr>
            <a:spLocks noGrp="1" noChangeArrowheads="1"/>
          </p:cNvSpPr>
          <p:nvPr>
            <p:ph type="sldNum" sz="quarter"/>
          </p:nvPr>
        </p:nvSpPr>
        <p:spPr>
          <a:noFill/>
        </p:spPr>
        <p:txBody>
          <a:bodyPr/>
          <a:lstStyle/>
          <a:p>
            <a:fld id="{AED31A68-57E6-4862-BC6F-DD303F5ADF93}" type="slidenum">
              <a:rPr lang="en-US" smtClean="0"/>
              <a:t>23</a:t>
            </a:fld>
            <a:endParaRPr lang="en-US" smtClean="0"/>
          </a:p>
        </p:txBody>
      </p:sp>
      <p:sp>
        <p:nvSpPr>
          <p:cNvPr id="24579" name="Rectangle 1"/>
          <p:cNvSpPr>
            <a:spLocks noGrp="1" noRot="1" noChangeAspect="1" noChangeArrowheads="1" noTextEdit="1"/>
          </p:cNvSpPr>
          <p:nvPr>
            <p:ph type="sldImg"/>
          </p:nvPr>
        </p:nvSpPr>
        <p:spPr>
          <a:xfrm>
            <a:off x="1143000" y="685800"/>
            <a:ext cx="4572000" cy="3429000"/>
          </a:xfrm>
        </p:spPr>
      </p:sp>
      <p:sp>
        <p:nvSpPr>
          <p:cNvPr id="24580" name="Rectangle 2"/>
          <p:cNvSpPr>
            <a:spLocks noGrp="1" noChangeArrowheads="1"/>
          </p:cNvSpPr>
          <p:nvPr>
            <p:ph type="body" idx="1"/>
          </p:nvPr>
        </p:nvSpPr>
        <p:spPr>
          <a:xfrm>
            <a:off x="685800" y="4343400"/>
            <a:ext cx="5486400" cy="4114800"/>
          </a:xfrm>
          <a:noFill/>
        </p:spPr>
        <p:txBody>
          <a:bodyPr wrap="none" anchor="ctr"/>
          <a:lstStyle/>
          <a:p>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Rectangle 7"/>
          <p:cNvSpPr>
            <a:spLocks noGrp="1" noChangeArrowheads="1"/>
          </p:cNvSpPr>
          <p:nvPr>
            <p:ph type="sldNum" sz="quarter"/>
          </p:nvPr>
        </p:nvSpPr>
        <p:spPr>
          <a:noFill/>
        </p:spPr>
        <p:txBody>
          <a:bodyPr/>
          <a:lstStyle/>
          <a:p>
            <a:fld id="{8FE0C2F8-F55A-4AE3-AE2A-982A22581E19}" type="slidenum">
              <a:rPr lang="en-US" smtClean="0"/>
              <a:t>24</a:t>
            </a:fld>
            <a:endParaRPr lang="en-US" smtClean="0"/>
          </a:p>
        </p:txBody>
      </p:sp>
      <p:sp>
        <p:nvSpPr>
          <p:cNvPr id="25603" name="Rectangle 1"/>
          <p:cNvSpPr>
            <a:spLocks noGrp="1" noRot="1" noChangeAspect="1" noChangeArrowheads="1" noTextEdit="1"/>
          </p:cNvSpPr>
          <p:nvPr>
            <p:ph type="sldImg"/>
          </p:nvPr>
        </p:nvSpPr>
        <p:spPr>
          <a:xfrm>
            <a:off x="1143000" y="685800"/>
            <a:ext cx="4572000" cy="3429000"/>
          </a:xfrm>
        </p:spPr>
      </p:sp>
      <p:sp>
        <p:nvSpPr>
          <p:cNvPr id="25604" name="Rectangle 2"/>
          <p:cNvSpPr>
            <a:spLocks noGrp="1" noChangeArrowheads="1"/>
          </p:cNvSpPr>
          <p:nvPr>
            <p:ph type="body" idx="1"/>
          </p:nvPr>
        </p:nvSpPr>
        <p:spPr>
          <a:xfrm>
            <a:off x="685800" y="4343400"/>
            <a:ext cx="5486400" cy="4114800"/>
          </a:xfrm>
          <a:noFill/>
        </p:spPr>
        <p:txBody>
          <a:bodyPr wrap="none" anchor="ctr"/>
          <a:lstStyle/>
          <a:p>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descr="关系图"/>
          <p:cNvPicPr>
            <a:picLocks noChangeAspect="1"/>
          </p:cNvPicPr>
          <p:nvPr/>
        </p:nvPicPr>
        <p:blipFill>
          <a:blip r:embed="rId2"/>
          <a:srcRect r="2528" b="10909"/>
          <a:stretch>
            <a:fillRect/>
          </a:stretch>
        </p:blipFill>
        <p:spPr>
          <a:xfrm>
            <a:off x="179388" y="692150"/>
            <a:ext cx="8913812" cy="6110288"/>
          </a:xfrm>
          <a:prstGeom prst="rect">
            <a:avLst/>
          </a:prstGeom>
          <a:noFill/>
          <a:ln w="9525">
            <a:noFill/>
          </a:ln>
        </p:spPr>
      </p:pic>
      <p:sp>
        <p:nvSpPr>
          <p:cNvPr id="10" name="Rectangle 7"/>
          <p:cNvSpPr>
            <a:spLocks noChangeArrowheads="1"/>
          </p:cNvSpPr>
          <p:nvPr/>
        </p:nvSpPr>
        <p:spPr bwMode="auto">
          <a:xfrm>
            <a:off x="1588" y="549275"/>
            <a:ext cx="9144000" cy="1511300"/>
          </a:xfrm>
          <a:prstGeom prst="rect">
            <a:avLst/>
          </a:prstGeom>
          <a:gradFill rotWithShape="0">
            <a:gsLst>
              <a:gs pos="0">
                <a:schemeClr val="bg2">
                  <a:gamma/>
                  <a:tint val="0"/>
                  <a:invGamma/>
                </a:schemeClr>
              </a:gs>
              <a:gs pos="100000">
                <a:schemeClr val="bg2">
                  <a:alpha val="53999"/>
                </a:scheme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2051" name="Rectangle 3"/>
          <p:cNvSpPr>
            <a:spLocks noGrp="1" noChangeArrowheads="1"/>
          </p:cNvSpPr>
          <p:nvPr>
            <p:ph type="subTitle" idx="1"/>
          </p:nvPr>
        </p:nvSpPr>
        <p:spPr>
          <a:xfrm>
            <a:off x="1908175" y="2492375"/>
            <a:ext cx="5545138" cy="1222375"/>
          </a:xfrm>
        </p:spPr>
        <p:txBody>
          <a:bodyPr anchor="ctr"/>
          <a:lstStyle>
            <a:lvl1pPr marL="0" indent="0" algn="ctr">
              <a:buFontTx/>
              <a:buNone/>
              <a:defRPr/>
            </a:lvl1pPr>
          </a:lstStyle>
          <a:p>
            <a:pPr lvl="0"/>
            <a:r>
              <a:rPr lang="en-US" altLang="zh-CN" noProof="0" smtClean="0"/>
              <a:t>Click to edit Master subtitle style</a:t>
            </a:r>
          </a:p>
        </p:txBody>
      </p:sp>
      <p:sp>
        <p:nvSpPr>
          <p:cNvPr id="2056" name="Rectangle 8"/>
          <p:cNvSpPr>
            <a:spLocks noGrp="1" noChangeArrowheads="1"/>
          </p:cNvSpPr>
          <p:nvPr>
            <p:ph type="ctrTitle"/>
          </p:nvPr>
        </p:nvSpPr>
        <p:spPr>
          <a:xfrm>
            <a:off x="755650" y="620713"/>
            <a:ext cx="7772400" cy="1470025"/>
          </a:xfrm>
        </p:spPr>
        <p:txBody>
          <a:bodyPr/>
          <a:lstStyle>
            <a:lvl1pPr>
              <a:defRPr sz="3600"/>
            </a:lvl1pPr>
          </a:lstStyle>
          <a:p>
            <a:pPr lvl="0"/>
            <a:r>
              <a:rPr lang="en-US" altLang="zh-CN" noProof="0" smtClean="0"/>
              <a:t>Click to edit Master title style</a:t>
            </a:r>
          </a:p>
        </p:txBody>
      </p:sp>
      <p:sp>
        <p:nvSpPr>
          <p:cNvPr id="11" name="Rectangle 4"/>
          <p:cNvSpPr>
            <a:spLocks noGrp="1" noChangeArrowheads="1"/>
          </p:cNvSpPr>
          <p:nvPr>
            <p:ph type="dt" sz="half" idx="2"/>
          </p:nvPr>
        </p:nvSpPr>
        <p:spPr bwMode="auto">
          <a:xfrm>
            <a:off x="457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CDC6A5EC-114B-4CE5-9CF6-80D4FB1278E2}" type="datetimeFigureOut">
              <a:rPr lang="en-US" smtClean="0"/>
              <a:t>1/15/2025</a:t>
            </a:fld>
            <a:endParaRPr lang="en-US"/>
          </a:p>
        </p:txBody>
      </p:sp>
      <p:sp>
        <p:nvSpPr>
          <p:cNvPr id="12" name="Rectangle 5"/>
          <p:cNvSpPr>
            <a:spLocks noGrp="1" noChangeArrowheads="1"/>
          </p:cNvSpPr>
          <p:nvPr>
            <p:ph type="ftr" sz="quarter" idx="3"/>
          </p:nvPr>
        </p:nvSpPr>
        <p:spPr bwMode="auto">
          <a:xfrm>
            <a:off x="3124200" y="6245225"/>
            <a:ext cx="2895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3" name="Rectangle 6"/>
          <p:cNvSpPr>
            <a:spLocks noGrp="1" noChangeArrowheads="1"/>
          </p:cNvSpPr>
          <p:nvPr>
            <p:ph type="sldNum" sz="quarter" idx="4"/>
          </p:nvPr>
        </p:nvSpPr>
        <p:spPr bwMode="auto">
          <a:xfrm>
            <a:off x="6553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AFF52EDE-FBEE-42A3-A258-77514DC5C066}" type="slidenum">
              <a:rPr lang="en-US" smtClean="0"/>
              <a:t>‹#›</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ppt_x</p:attrName>
                                        </p:attrNameLst>
                                      </p:cBhvr>
                                      <p:tavLst>
                                        <p:tav tm="0">
                                          <p:val>
                                            <p:strVal val="#ppt_x-.2"/>
                                          </p:val>
                                        </p:tav>
                                        <p:tav tm="100000">
                                          <p:val>
                                            <p:strVal val="#ppt_x"/>
                                          </p:val>
                                        </p:tav>
                                      </p:tavLst>
                                    </p:anim>
                                    <p:anim calcmode="lin" valueType="num">
                                      <p:cBhvr>
                                        <p:cTn id="8" dur="1000" fill="hold"/>
                                        <p:tgtEl>
                                          <p:spTgt spid="10"/>
                                        </p:tgtEl>
                                        <p:attrNameLst>
                                          <p:attrName>ppt_y</p:attrName>
                                        </p:attrNameLst>
                                      </p:cBhvr>
                                      <p:tavLst>
                                        <p:tav tm="0">
                                          <p:val>
                                            <p:strVal val="#ppt_y"/>
                                          </p:val>
                                        </p:tav>
                                        <p:tav tm="100000">
                                          <p:val>
                                            <p:strVal val="#ppt_y"/>
                                          </p:val>
                                        </p:tav>
                                      </p:tavLst>
                                    </p:anim>
                                    <p:animEffect transition="in" filter="wipe(right)" prLst="gradientSize: 0.1">
                                      <p:cBhvr>
                                        <p:cTn id="9"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DC6A5EC-114B-4CE5-9CF6-80D4FB1278E2}"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F52EDE-FBEE-42A3-A258-77514DC5C066}" type="slidenum">
              <a:rPr lang="en-US"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DC6A5EC-114B-4CE5-9CF6-80D4FB1278E2}"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F52EDE-FBEE-42A3-A258-77514DC5C066}" type="slidenum">
              <a:rPr lang="en-US"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DC6A5EC-114B-4CE5-9CF6-80D4FB1278E2}"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F52EDE-FBEE-42A3-A258-77514DC5C066}"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DC6A5EC-114B-4CE5-9CF6-80D4FB1278E2}" type="datetimeFigureOut">
              <a:rPr lang="en-US" smtClean="0"/>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FF52EDE-FBEE-42A3-A258-77514DC5C066}"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DC6A5EC-114B-4CE5-9CF6-80D4FB1278E2}" type="datetimeFigureOut">
              <a:rPr lang="en-US" smtClean="0"/>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FF52EDE-FBEE-42A3-A258-77514DC5C066}"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C6A5EC-114B-4CE5-9CF6-80D4FB1278E2}" type="datetimeFigureOut">
              <a:rPr lang="en-US" smtClean="0"/>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FF52EDE-FBEE-42A3-A258-77514DC5C066}" type="slidenum">
              <a:rPr lang="en-US"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DC6A5EC-114B-4CE5-9CF6-80D4FB1278E2}"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F52EDE-FBEE-42A3-A258-77514DC5C066}"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DC6A5EC-114B-4CE5-9CF6-80D4FB1278E2}"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FF52EDE-FBEE-42A3-A258-77514DC5C066}"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DC6A5EC-114B-4CE5-9CF6-80D4FB1278E2}"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F52EDE-FBEE-42A3-A258-77514DC5C066}"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DC6A5EC-114B-4CE5-9CF6-80D4FB1278E2}"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F52EDE-FBEE-42A3-A258-77514DC5C066}" type="slidenum">
              <a:rPr lang="en-US" smtClean="0"/>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1588" y="333375"/>
            <a:ext cx="9144000" cy="1009650"/>
          </a:xfrm>
          <a:prstGeom prst="rect">
            <a:avLst/>
          </a:prstGeom>
          <a:gradFill rotWithShape="0">
            <a:gsLst>
              <a:gs pos="0">
                <a:schemeClr val="bg2">
                  <a:gamma/>
                  <a:tint val="0"/>
                  <a:invGamma/>
                </a:schemeClr>
              </a:gs>
              <a:gs pos="100000">
                <a:schemeClr val="bg2">
                  <a:alpha val="53999"/>
                </a:scheme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pic>
        <p:nvPicPr>
          <p:cNvPr id="1027" name="Picture 3" descr="关系图"/>
          <p:cNvPicPr>
            <a:picLocks noChangeAspect="1"/>
          </p:cNvPicPr>
          <p:nvPr/>
        </p:nvPicPr>
        <p:blipFill>
          <a:blip r:embed="rId13"/>
          <a:srcRect t="1094" r="8122" b="13318"/>
          <a:stretch>
            <a:fillRect/>
          </a:stretch>
        </p:blipFill>
        <p:spPr>
          <a:xfrm>
            <a:off x="5797550" y="4438650"/>
            <a:ext cx="3340100" cy="2333625"/>
          </a:xfrm>
          <a:prstGeom prst="rect">
            <a:avLst/>
          </a:prstGeom>
          <a:noFill/>
          <a:ln w="9525">
            <a:noFill/>
          </a:ln>
        </p:spPr>
      </p:pic>
      <p:sp>
        <p:nvSpPr>
          <p:cNvPr id="1028" name="Rectangle 4"/>
          <p:cNvSpPr>
            <a:spLocks noGrp="1"/>
          </p:cNvSpPr>
          <p:nvPr>
            <p:ph type="title"/>
          </p:nvPr>
        </p:nvSpPr>
        <p:spPr>
          <a:xfrm>
            <a:off x="457200" y="274638"/>
            <a:ext cx="8229600" cy="1143000"/>
          </a:xfrm>
          <a:prstGeom prst="rect">
            <a:avLst/>
          </a:prstGeom>
          <a:noFill/>
          <a:ln w="9525">
            <a:noFill/>
          </a:ln>
        </p:spPr>
        <p:txBody>
          <a:bodyPr anchor="ctr" anchorCtr="0"/>
          <a:lstStyle/>
          <a:p>
            <a:pPr lvl="0"/>
            <a:r>
              <a:rPr lang="en-US" altLang="zh-CN" dirty="0"/>
              <a:t>Click to edit Master title style</a:t>
            </a:r>
          </a:p>
        </p:txBody>
      </p:sp>
      <p:sp>
        <p:nvSpPr>
          <p:cNvPr id="1029" name="Rectangle 5"/>
          <p:cNvSpPr>
            <a:spLocks noGrp="1"/>
          </p:cNvSpPr>
          <p:nvPr>
            <p:ph type="body" idx="1"/>
          </p:nvPr>
        </p:nvSpPr>
        <p:spPr>
          <a:xfrm>
            <a:off x="457200" y="1600200"/>
            <a:ext cx="8229600" cy="4525963"/>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30" name="Rectangle 6"/>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CDC6A5EC-114B-4CE5-9CF6-80D4FB1278E2}" type="datetimeFigureOut">
              <a:rPr lang="en-US" smtClean="0"/>
              <a:t>1/15/2025</a:t>
            </a:fld>
            <a:endParaRPr lang="en-US"/>
          </a:p>
        </p:txBody>
      </p:sp>
      <p:sp>
        <p:nvSpPr>
          <p:cNvPr id="1031" name="Rectangle 7"/>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2" name="Rectangle 8"/>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AFF52EDE-FBEE-42A3-A258-77514DC5C06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1000" fill="hold"/>
                                        <p:tgtEl>
                                          <p:spTgt spid="1026"/>
                                        </p:tgtEl>
                                        <p:attrNameLst>
                                          <p:attrName>ppt_x</p:attrName>
                                        </p:attrNameLst>
                                      </p:cBhvr>
                                      <p:tavLst>
                                        <p:tav tm="0">
                                          <p:val>
                                            <p:strVal val="#ppt_x-.2"/>
                                          </p:val>
                                        </p:tav>
                                        <p:tav tm="100000">
                                          <p:val>
                                            <p:strVal val="#ppt_x"/>
                                          </p:val>
                                        </p:tav>
                                      </p:tavLst>
                                    </p:anim>
                                    <p:anim calcmode="lin" valueType="num">
                                      <p:cBhvr>
                                        <p:cTn id="8" dur="1000" fill="hold"/>
                                        <p:tgtEl>
                                          <p:spTgt spid="1026"/>
                                        </p:tgtEl>
                                        <p:attrNameLst>
                                          <p:attrName>ppt_y</p:attrName>
                                        </p:attrNameLst>
                                      </p:cBhvr>
                                      <p:tavLst>
                                        <p:tav tm="0">
                                          <p:val>
                                            <p:strVal val="#ppt_y"/>
                                          </p:val>
                                        </p:tav>
                                        <p:tav tm="100000">
                                          <p:val>
                                            <p:strVal val="#ppt_y"/>
                                          </p:val>
                                        </p:tav>
                                      </p:tavLst>
                                    </p:anim>
                                    <p:animEffect transition="in" filter="wipe(right)" prLst="gradientSize: 0.1">
                                      <p:cBhvr>
                                        <p:cTn id="9" dur="1000"/>
                                        <p:tgtEl>
                                          <p:spTgt spid="1026"/>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1028"/>
                                        </p:tgtEl>
                                        <p:attrNameLst>
                                          <p:attrName>style.visibility</p:attrName>
                                        </p:attrNameLst>
                                      </p:cBhvr>
                                      <p:to>
                                        <p:strVal val="visible"/>
                                      </p:to>
                                    </p:set>
                                    <p:anim calcmode="lin" valueType="num">
                                      <p:cBhvr>
                                        <p:cTn id="12" dur="1000" fill="hold"/>
                                        <p:tgtEl>
                                          <p:spTgt spid="1028"/>
                                        </p:tgtEl>
                                        <p:attrNameLst>
                                          <p:attrName>ppt_x</p:attrName>
                                        </p:attrNameLst>
                                      </p:cBhvr>
                                      <p:tavLst>
                                        <p:tav tm="0">
                                          <p:val>
                                            <p:strVal val="#ppt_x-.2"/>
                                          </p:val>
                                        </p:tav>
                                        <p:tav tm="100000">
                                          <p:val>
                                            <p:strVal val="#ppt_x"/>
                                          </p:val>
                                        </p:tav>
                                      </p:tavLst>
                                    </p:anim>
                                    <p:anim calcmode="lin" valueType="num">
                                      <p:cBhvr>
                                        <p:cTn id="13" dur="1000" fill="hold"/>
                                        <p:tgtEl>
                                          <p:spTgt spid="1028"/>
                                        </p:tgtEl>
                                        <p:attrNameLst>
                                          <p:attrName>ppt_y</p:attrName>
                                        </p:attrNameLst>
                                      </p:cBhvr>
                                      <p:tavLst>
                                        <p:tav tm="0">
                                          <p:val>
                                            <p:strVal val="#ppt_y"/>
                                          </p:val>
                                        </p:tav>
                                        <p:tav tm="100000">
                                          <p:val>
                                            <p:strVal val="#ppt_y"/>
                                          </p:val>
                                        </p:tav>
                                      </p:tavLst>
                                    </p:anim>
                                    <p:animEffect transition="in" filter="wipe(right)" prLst="gradientSize: 0.1">
                                      <p:cBhvr>
                                        <p:cTn id="14" dur="10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bldLvl="0" animBg="1"/>
      <p:bldP spid="1028" grpId="0" bldLvl="0"/>
    </p:bldLst>
  </p:timing>
  <p:hf sldNum="0" hdr="0" ft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772400" cy="2232025"/>
          </a:xfrm>
        </p:spPr>
        <p:txBody>
          <a:bodyPr>
            <a:normAutofit/>
          </a:bodyPr>
          <a:lstStyle/>
          <a:p>
            <a:pPr algn="ctr"/>
            <a:r>
              <a:rPr lang="en-US" dirty="0" smtClean="0">
                <a:solidFill>
                  <a:schemeClr val="tx1"/>
                </a:solidFill>
                <a:latin typeface="Algerian" panose="04020705040A02060702" pitchFamily="82" charset="0"/>
              </a:rPr>
              <a:t>TRAINING AND DEVELOPMENT</a:t>
            </a:r>
            <a:endParaRPr lang="en-US" dirty="0">
              <a:solidFill>
                <a:schemeClr val="tx1"/>
              </a:solidFill>
              <a:latin typeface="Algerian" panose="04020705040A02060702" pitchFamily="82" charset="0"/>
            </a:endParaRPr>
          </a:p>
        </p:txBody>
      </p:sp>
      <p:sp>
        <p:nvSpPr>
          <p:cNvPr id="3" name="Subtitle 2"/>
          <p:cNvSpPr>
            <a:spLocks noGrp="1"/>
          </p:cNvSpPr>
          <p:nvPr>
            <p:ph type="subTitle" idx="1"/>
          </p:nvPr>
        </p:nvSpPr>
        <p:spPr>
          <a:xfrm>
            <a:off x="2286000" y="4114800"/>
            <a:ext cx="6172200" cy="2133600"/>
          </a:xfrm>
        </p:spPr>
        <p:txBody>
          <a:bodyPr>
            <a:normAutofit/>
          </a:bodyPr>
          <a:lstStyle/>
          <a:p>
            <a:pPr algn="l"/>
            <a:endParaRPr lang="en-US" sz="2000" dirty="0" smtClean="0">
              <a:solidFill>
                <a:schemeClr val="tx1"/>
              </a:solidFill>
            </a:endParaRPr>
          </a:p>
          <a:p>
            <a:pPr algn="ctr"/>
            <a:r>
              <a:rPr lang="en-US" sz="4000" dirty="0" smtClean="0">
                <a:solidFill>
                  <a:schemeClr val="tx1"/>
                </a:solidFill>
              </a:rPr>
              <a:t>  </a:t>
            </a:r>
            <a:endParaRPr lang="en-US" sz="2000" dirty="0" smtClean="0">
              <a:solidFill>
                <a:schemeClr val="tx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chemeClr val="tx1"/>
                </a:solidFill>
              </a:rPr>
              <a:t>Training</a:t>
            </a:r>
            <a:endParaRPr lang="en-US" b="1" dirty="0">
              <a:solidFill>
                <a:schemeClr val="tx1"/>
              </a:solidFill>
            </a:endParaRPr>
          </a:p>
        </p:txBody>
      </p:sp>
      <p:sp>
        <p:nvSpPr>
          <p:cNvPr id="3" name="Content Placeholder 2"/>
          <p:cNvSpPr>
            <a:spLocks noGrp="1"/>
          </p:cNvSpPr>
          <p:nvPr>
            <p:ph sz="quarter" idx="1"/>
          </p:nvPr>
        </p:nvSpPr>
        <p:spPr>
          <a:xfrm>
            <a:off x="304800" y="1447800"/>
            <a:ext cx="8382000" cy="4678363"/>
          </a:xfrm>
        </p:spPr>
        <p:txBody>
          <a:bodyPr>
            <a:normAutofit/>
          </a:bodyPr>
          <a:lstStyle/>
          <a:p>
            <a:pPr algn="just"/>
            <a:r>
              <a:rPr lang="en-US" sz="4000" dirty="0" smtClean="0"/>
              <a:t>Is the process of increasing  knowledge and skills for doing a particular  job. It is an organized procedure by which people learn knowledge and skill for a definite purpose (Gupta,2009).</a:t>
            </a:r>
          </a:p>
          <a:p>
            <a:pPr algn="just"/>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lnSpcReduction="10000"/>
          </a:bodyPr>
          <a:lstStyle/>
          <a:p>
            <a:pPr algn="just"/>
            <a:r>
              <a:rPr lang="en-US" sz="3600" dirty="0" smtClean="0"/>
              <a:t>The purpose of training is basically to bridge the gap between job requirements and present competence of an employee. </a:t>
            </a:r>
          </a:p>
          <a:p>
            <a:pPr algn="just"/>
            <a:r>
              <a:rPr lang="en-US" sz="3600" dirty="0" smtClean="0"/>
              <a:t>Also it aimed at improving the behavior and performance of a person e.g. Customer care training can change  behavior of employees.</a:t>
            </a:r>
          </a:p>
          <a:p>
            <a:pPr>
              <a:buNone/>
            </a:pP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lstStyle/>
          <a:p>
            <a:pPr algn="ctr"/>
            <a:r>
              <a:rPr lang="en-US" b="1" dirty="0" smtClean="0">
                <a:solidFill>
                  <a:schemeClr val="tx1"/>
                </a:solidFill>
              </a:rPr>
              <a:t>Development</a:t>
            </a:r>
            <a:endParaRPr lang="en-US" b="1" dirty="0">
              <a:solidFill>
                <a:schemeClr val="tx1"/>
              </a:solidFill>
            </a:endParaRPr>
          </a:p>
        </p:txBody>
      </p:sp>
      <p:sp>
        <p:nvSpPr>
          <p:cNvPr id="3" name="Content Placeholder 2"/>
          <p:cNvSpPr>
            <a:spLocks noGrp="1"/>
          </p:cNvSpPr>
          <p:nvPr>
            <p:ph sz="quarter" idx="1"/>
          </p:nvPr>
        </p:nvSpPr>
        <p:spPr>
          <a:xfrm>
            <a:off x="457200" y="1219200"/>
            <a:ext cx="8229600" cy="5410200"/>
          </a:xfrm>
        </p:spPr>
        <p:txBody>
          <a:bodyPr>
            <a:noAutofit/>
          </a:bodyPr>
          <a:lstStyle/>
          <a:p>
            <a:pPr algn="just"/>
            <a:r>
              <a:rPr lang="en-US" sz="3200" dirty="0" smtClean="0"/>
              <a:t>Development is a long term education process utilizing a systematic and organized procedure by which managerial personnel learn conceptual and theoretical knowledge for general purpose.</a:t>
            </a:r>
          </a:p>
          <a:p>
            <a:pPr algn="just"/>
            <a:r>
              <a:rPr lang="en-US" sz="3200" dirty="0" smtClean="0"/>
              <a:t>It involves philosophical and theoretical educational concepts and it is designed for managers. It involves broader education and its purpose is long term development</a:t>
            </a:r>
          </a:p>
          <a:p>
            <a:pPr algn="just">
              <a:buNone/>
            </a:pPr>
            <a:endParaRPr lang="en-US" sz="32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1"/>
          <p:cNvSpPr>
            <a:spLocks noGrp="1" noChangeArrowheads="1"/>
          </p:cNvSpPr>
          <p:nvPr>
            <p:ph type="title"/>
          </p:nvPr>
        </p:nvSpPr>
        <p:spPr>
          <a:xfrm>
            <a:off x="457200" y="896938"/>
            <a:ext cx="7543800" cy="520700"/>
          </a:xfrm>
        </p:spPr>
        <p:txBody>
          <a:bodyPr>
            <a:noAutofit/>
          </a:bodyPr>
          <a:lstStyle/>
          <a:p>
            <a:pPr algn="ct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dirty="0" smtClean="0">
                <a:solidFill>
                  <a:schemeClr val="tx1"/>
                </a:solidFill>
              </a:rPr>
              <a:t>TRAINING </a:t>
            </a:r>
            <a:r>
              <a:rPr lang="en-US" sz="3600" b="1" dirty="0" smtClean="0">
                <a:solidFill>
                  <a:schemeClr val="tx1"/>
                </a:solidFill>
              </a:rPr>
              <a:t>and</a:t>
            </a:r>
            <a:r>
              <a:rPr lang="en-US" sz="3200" b="1" dirty="0" smtClean="0">
                <a:solidFill>
                  <a:schemeClr val="tx1"/>
                </a:solidFill>
              </a:rPr>
              <a:t> Development DEFINED</a:t>
            </a:r>
          </a:p>
        </p:txBody>
      </p:sp>
      <p:sp>
        <p:nvSpPr>
          <p:cNvPr id="5122" name="Rectangle 2"/>
          <p:cNvSpPr>
            <a:spLocks noGrp="1" noChangeArrowheads="1"/>
          </p:cNvSpPr>
          <p:nvPr>
            <p:ph sz="quarter" idx="1"/>
          </p:nvPr>
        </p:nvSpPr>
        <p:spPr>
          <a:xfrm>
            <a:off x="457200" y="1719263"/>
            <a:ext cx="8229600" cy="4411662"/>
          </a:xfrm>
        </p:spPr>
        <p:txBody>
          <a:bodyPr>
            <a:noAutofit/>
          </a:bodyPr>
          <a:lstStyle/>
          <a:p>
            <a:pPr marL="341630" indent="-341630" algn="just" eaLnBrk="1" hangingPunct="1">
              <a:spcBef>
                <a:spcPts val="600"/>
              </a:spcBef>
              <a:buClr>
                <a:srgbClr val="330066"/>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4000" dirty="0" smtClean="0"/>
              <a:t>Training and development (T&amp;D) is a planned, continuous effort by management to improve employees competency levels and organizational performance.</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additive="repl">
                                        <p:cTn id="6" dur="1" fill="hold">
                                          <p:stCondLst>
                                            <p:cond delay="0"/>
                                          </p:stCondLst>
                                        </p:cTn>
                                        <p:tgtEl>
                                          <p:spTgt spid="51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additive="repl">
                                        <p:cTn id="10" dur="1" fill="hold">
                                          <p:stCondLst>
                                            <p:cond delay="0"/>
                                          </p:stCondLst>
                                        </p:cTn>
                                        <p:tgtEl>
                                          <p:spTgt spid="5122">
                                            <p:txEl>
                                              <p:pRg st="0" end="0"/>
                                            </p:txEl>
                                          </p:spTgt>
                                        </p:tgtEl>
                                        <p:attrNameLst>
                                          <p:attrName>style.visibility</p:attrName>
                                        </p:attrNameLst>
                                      </p:cBhvr>
                                      <p:to>
                                        <p:strVal val="visible"/>
                                      </p:to>
                                    </p:set>
                                    <p:anim calcmode="lin" valueType="num">
                                      <p:cBhvr>
                                        <p:cTn id="11" dur="500" fill="hold"/>
                                        <p:tgtEl>
                                          <p:spTgt spid="5122">
                                            <p:txEl>
                                              <p:pRg st="0" end="0"/>
                                            </p:txEl>
                                          </p:spTgt>
                                        </p:tgtEl>
                                        <p:attrNameLst>
                                          <p:attrName>ppt_x</p:attrName>
                                        </p:attrNameLst>
                                      </p:cBhvr>
                                      <p:tavLst>
                                        <p:tav tm="100000">
                                          <p:val>
                                            <p:strVal val="0-#ppt_w/2"/>
                                          </p:val>
                                        </p:tav>
                                        <p:tav tm="100000">
                                          <p:val>
                                            <p:strVal val="#ppt_x"/>
                                          </p:val>
                                        </p:tav>
                                      </p:tavLst>
                                    </p:anim>
                                    <p:anim calcmode="lin" valueType="num">
                                      <p:cBhvr>
                                        <p:cTn id="12" dur="500" fill="hold"/>
                                        <p:tgtEl>
                                          <p:spTgt spid="5122">
                                            <p:txEl>
                                              <p:pRg st="0" end="0"/>
                                            </p:txEl>
                                          </p:spTgt>
                                        </p:tgtEl>
                                        <p:attrNameLst>
                                          <p:attrName>ppt_y</p:attrName>
                                        </p:attrNameLst>
                                      </p:cBhvr>
                                      <p:tavLst>
                                        <p:tav tm="10000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a:bodyPr>
          <a:lstStyle/>
          <a:p>
            <a:pPr marL="341630" indent="-341630" algn="just">
              <a:buClr>
                <a:srgbClr val="330066"/>
              </a:buClr>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3600" dirty="0" smtClean="0"/>
              <a:t>Training is designed to provide learners with the knowledge and skills needed for their present jobs.</a:t>
            </a:r>
          </a:p>
          <a:p>
            <a:pPr marL="341630" indent="-341630" algn="just">
              <a:buClr>
                <a:srgbClr val="330066"/>
              </a:buClr>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3600" dirty="0" smtClean="0"/>
              <a:t>Development is learning that looks beyond the knowledge and skill needed for a present job.</a:t>
            </a:r>
          </a:p>
          <a:p>
            <a:endParaRPr lang="en-US" sz="36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chemeClr val="tx1"/>
                </a:solidFill>
              </a:rPr>
              <a:t>Training and development</a:t>
            </a:r>
            <a:endParaRPr lang="en-US" b="1" dirty="0">
              <a:solidFill>
                <a:schemeClr val="tx1"/>
              </a:solidFill>
            </a:endParaRPr>
          </a:p>
        </p:txBody>
      </p:sp>
      <p:sp>
        <p:nvSpPr>
          <p:cNvPr id="3" name="Content Placeholder 2"/>
          <p:cNvSpPr>
            <a:spLocks noGrp="1"/>
          </p:cNvSpPr>
          <p:nvPr>
            <p:ph sz="quarter" idx="1"/>
          </p:nvPr>
        </p:nvSpPr>
        <p:spPr/>
        <p:txBody>
          <a:bodyPr>
            <a:normAutofit/>
          </a:bodyPr>
          <a:lstStyle/>
          <a:p>
            <a:pPr algn="just"/>
            <a:r>
              <a:rPr lang="en-US" sz="2800" dirty="0" smtClean="0"/>
              <a:t>Employee training is distinct from management development. Training is short-term process utilizing a systematic and organized procedure by which non managerial personnel learn technical knowledge and skills for a definite purpose. </a:t>
            </a:r>
          </a:p>
          <a:p>
            <a:pPr algn="just"/>
            <a:r>
              <a:rPr lang="en-US" sz="2800" dirty="0" smtClean="0"/>
              <a:t>It is designed primarily for non managers. It is for a short duration and for a specific job related purpose</a:t>
            </a:r>
            <a:endParaRPr lang="en-US" sz="2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a:bodyPr>
          <a:lstStyle/>
          <a:p>
            <a:pPr algn="just"/>
            <a:r>
              <a:rPr lang="en-US" sz="2800" dirty="0" smtClean="0"/>
              <a:t>On the other hand, development is a long-term education process utilizing a systematic and organized procedure by which managerial personnel learn conceptual theoretical knowledge for general purpose. It involves philosophical and theoretical educational concepts and it is designed for managers. It involves broader education and its purpose is long-term development</a:t>
            </a:r>
            <a:endParaRPr lang="en-US" sz="28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87362"/>
          </a:xfrm>
        </p:spPr>
        <p:txBody>
          <a:bodyPr>
            <a:normAutofit fontScale="90000"/>
          </a:bodyPr>
          <a:lstStyle/>
          <a:p>
            <a:endParaRPr lang="en-US" dirty="0"/>
          </a:p>
        </p:txBody>
      </p:sp>
      <p:sp>
        <p:nvSpPr>
          <p:cNvPr id="3" name="Content Placeholder 2"/>
          <p:cNvSpPr>
            <a:spLocks noGrp="1"/>
          </p:cNvSpPr>
          <p:nvPr>
            <p:ph sz="quarter" idx="1"/>
          </p:nvPr>
        </p:nvSpPr>
        <p:spPr>
          <a:xfrm>
            <a:off x="457200" y="914400"/>
            <a:ext cx="7848600" cy="5559552"/>
          </a:xfrm>
        </p:spPr>
        <p:txBody>
          <a:bodyPr>
            <a:normAutofit/>
          </a:bodyPr>
          <a:lstStyle/>
          <a:p>
            <a:pPr algn="just"/>
            <a:r>
              <a:rPr lang="en-US" sz="4000" dirty="0" smtClean="0"/>
              <a:t>Training involves helping an individual learn how to perform his present job satisfactorily. Development involves preparing the individual for a future job and growth of the individual in a all respects.</a:t>
            </a:r>
            <a:endParaRPr lang="en-US" sz="40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US" b="1" dirty="0" smtClean="0">
                <a:solidFill>
                  <a:schemeClr val="tx1"/>
                </a:solidFill>
              </a:rPr>
              <a:t>TRAINING AND DEVELOPMENT COMPARED</a:t>
            </a:r>
            <a:endParaRPr lang="en-US" b="1" dirty="0">
              <a:solidFill>
                <a:schemeClr val="tx1"/>
              </a:solidFill>
            </a:endParaRPr>
          </a:p>
        </p:txBody>
      </p:sp>
      <p:sp>
        <p:nvSpPr>
          <p:cNvPr id="8" name="Content Placeholder 7"/>
          <p:cNvSpPr>
            <a:spLocks noGrp="1"/>
          </p:cNvSpPr>
          <p:nvPr>
            <p:ph sz="quarter" idx="2"/>
          </p:nvPr>
        </p:nvSpPr>
        <p:spPr/>
        <p:txBody>
          <a:bodyPr/>
          <a:lstStyle/>
          <a:p>
            <a:r>
              <a:rPr lang="en-US" b="1" dirty="0" smtClean="0"/>
              <a:t>Contents: </a:t>
            </a:r>
            <a:r>
              <a:rPr lang="en-US" dirty="0" smtClean="0"/>
              <a:t>Technical and mechanical operations</a:t>
            </a:r>
          </a:p>
          <a:p>
            <a:endParaRPr lang="en-US" dirty="0" smtClean="0"/>
          </a:p>
          <a:p>
            <a:r>
              <a:rPr lang="en-US" b="1" dirty="0" smtClean="0"/>
              <a:t>Participants</a:t>
            </a:r>
            <a:r>
              <a:rPr lang="en-US" dirty="0" smtClean="0"/>
              <a:t>: Non- managerial personals</a:t>
            </a:r>
          </a:p>
          <a:p>
            <a:pPr>
              <a:buNone/>
            </a:pPr>
            <a:endParaRPr lang="en-US" dirty="0" smtClean="0"/>
          </a:p>
          <a:p>
            <a:r>
              <a:rPr lang="en-US" b="1" dirty="0" smtClean="0"/>
              <a:t>Time period</a:t>
            </a:r>
            <a:r>
              <a:rPr lang="en-US" dirty="0" smtClean="0"/>
              <a:t>: Short-term one short affair</a:t>
            </a:r>
          </a:p>
          <a:p>
            <a:pPr>
              <a:buNone/>
            </a:pPr>
            <a:endParaRPr lang="en-US" dirty="0" smtClean="0"/>
          </a:p>
          <a:p>
            <a:pPr>
              <a:buNone/>
            </a:pPr>
            <a:endParaRPr lang="en-US" dirty="0"/>
          </a:p>
        </p:txBody>
      </p:sp>
      <p:sp>
        <p:nvSpPr>
          <p:cNvPr id="10" name="Content Placeholder 9"/>
          <p:cNvSpPr>
            <a:spLocks noGrp="1"/>
          </p:cNvSpPr>
          <p:nvPr>
            <p:ph sz="quarter" idx="4"/>
          </p:nvPr>
        </p:nvSpPr>
        <p:spPr/>
        <p:txBody>
          <a:bodyPr>
            <a:normAutofit fontScale="77500" lnSpcReduction="20000"/>
          </a:bodyPr>
          <a:lstStyle/>
          <a:p>
            <a:r>
              <a:rPr lang="en-US" b="1" dirty="0" smtClean="0"/>
              <a:t>Contents: </a:t>
            </a:r>
            <a:r>
              <a:rPr lang="en-US" dirty="0" smtClean="0"/>
              <a:t>Conceptual and philosophical concepts</a:t>
            </a:r>
          </a:p>
          <a:p>
            <a:pPr>
              <a:buNone/>
            </a:pPr>
            <a:endParaRPr lang="en-US" dirty="0" smtClean="0"/>
          </a:p>
          <a:p>
            <a:r>
              <a:rPr lang="en-US" b="1" dirty="0" smtClean="0"/>
              <a:t>Participants: </a:t>
            </a:r>
            <a:r>
              <a:rPr lang="en-US" dirty="0" smtClean="0"/>
              <a:t>Managerial personnel</a:t>
            </a:r>
          </a:p>
          <a:p>
            <a:pPr>
              <a:buNone/>
            </a:pPr>
            <a:endParaRPr lang="en-US" dirty="0" smtClean="0"/>
          </a:p>
          <a:p>
            <a:r>
              <a:rPr lang="en-US" b="1" dirty="0" smtClean="0"/>
              <a:t>Time period: </a:t>
            </a:r>
            <a:r>
              <a:rPr lang="en-US" dirty="0" smtClean="0"/>
              <a:t>Long-term continuous process</a:t>
            </a:r>
          </a:p>
          <a:p>
            <a:pPr>
              <a:buNone/>
            </a:pPr>
            <a:endParaRPr lang="en-US" dirty="0"/>
          </a:p>
        </p:txBody>
      </p:sp>
      <p:sp>
        <p:nvSpPr>
          <p:cNvPr id="7" name="Text Placeholder 6"/>
          <p:cNvSpPr>
            <a:spLocks noGrp="1"/>
          </p:cNvSpPr>
          <p:nvPr>
            <p:ph type="body" sz="quarter" idx="1"/>
          </p:nvPr>
        </p:nvSpPr>
        <p:spPr/>
        <p:txBody>
          <a:bodyPr/>
          <a:lstStyle/>
          <a:p>
            <a:r>
              <a:rPr lang="en-US" dirty="0" smtClean="0">
                <a:solidFill>
                  <a:schemeClr val="tx1"/>
                </a:solidFill>
              </a:rPr>
              <a:t>TRAINING</a:t>
            </a:r>
            <a:endParaRPr lang="en-US" dirty="0">
              <a:solidFill>
                <a:schemeClr val="tx1"/>
              </a:solidFill>
            </a:endParaRPr>
          </a:p>
        </p:txBody>
      </p:sp>
      <p:sp>
        <p:nvSpPr>
          <p:cNvPr id="9" name="Text Placeholder 8"/>
          <p:cNvSpPr>
            <a:spLocks noGrp="1"/>
          </p:cNvSpPr>
          <p:nvPr>
            <p:ph type="body" sz="quarter" idx="3"/>
          </p:nvPr>
        </p:nvSpPr>
        <p:spPr/>
        <p:txBody>
          <a:bodyPr/>
          <a:lstStyle/>
          <a:p>
            <a:r>
              <a:rPr lang="en-US" dirty="0" smtClean="0">
                <a:solidFill>
                  <a:schemeClr val="tx1"/>
                </a:solidFill>
              </a:rPr>
              <a:t>DEVELOPMENT</a:t>
            </a:r>
            <a:endParaRPr lang="en-US" dirty="0">
              <a:solidFill>
                <a:schemeClr val="tx1"/>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336550"/>
          </a:xfrm>
        </p:spPr>
        <p:txBody>
          <a:bodyPr>
            <a:normAutofit fontScale="90000"/>
          </a:bodyPr>
          <a:lstStyle/>
          <a:p>
            <a:endParaRPr lang="en-US" dirty="0"/>
          </a:p>
        </p:txBody>
      </p:sp>
      <p:sp>
        <p:nvSpPr>
          <p:cNvPr id="3" name="Content Placeholder 2"/>
          <p:cNvSpPr>
            <a:spLocks noGrp="1"/>
          </p:cNvSpPr>
          <p:nvPr>
            <p:ph sz="quarter" idx="2"/>
          </p:nvPr>
        </p:nvSpPr>
        <p:spPr>
          <a:xfrm>
            <a:off x="457200" y="2209800"/>
            <a:ext cx="3657600" cy="4038600"/>
          </a:xfrm>
        </p:spPr>
        <p:txBody>
          <a:bodyPr>
            <a:normAutofit fontScale="77500" lnSpcReduction="20000"/>
          </a:bodyPr>
          <a:lstStyle/>
          <a:p>
            <a:r>
              <a:rPr lang="en-US" b="1" dirty="0" smtClean="0"/>
              <a:t>Purpose: </a:t>
            </a:r>
            <a:r>
              <a:rPr lang="en-US" dirty="0" smtClean="0"/>
              <a:t>Specific, job related skills</a:t>
            </a:r>
          </a:p>
          <a:p>
            <a:endParaRPr lang="en-US" dirty="0" smtClean="0"/>
          </a:p>
          <a:p>
            <a:r>
              <a:rPr lang="en-US" b="1" dirty="0" smtClean="0"/>
              <a:t>Initiative: </a:t>
            </a:r>
            <a:r>
              <a:rPr lang="en-US" dirty="0" smtClean="0"/>
              <a:t>from management-external motivation</a:t>
            </a:r>
          </a:p>
          <a:p>
            <a:endParaRPr lang="en-US" dirty="0" smtClean="0"/>
          </a:p>
          <a:p>
            <a:r>
              <a:rPr lang="en-US" b="1" dirty="0" smtClean="0"/>
              <a:t>Nature of the Purpose: </a:t>
            </a:r>
            <a:r>
              <a:rPr lang="en-US" dirty="0" smtClean="0"/>
              <a:t>Reactive process- to meet current need</a:t>
            </a:r>
          </a:p>
          <a:p>
            <a:pPr>
              <a:buNone/>
            </a:pPr>
            <a:endParaRPr lang="en-US" dirty="0"/>
          </a:p>
        </p:txBody>
      </p:sp>
      <p:sp>
        <p:nvSpPr>
          <p:cNvPr id="4" name="Content Placeholder 3"/>
          <p:cNvSpPr>
            <a:spLocks noGrp="1"/>
          </p:cNvSpPr>
          <p:nvPr>
            <p:ph sz="quarter" idx="4"/>
          </p:nvPr>
        </p:nvSpPr>
        <p:spPr>
          <a:xfrm>
            <a:off x="4267200" y="2133600"/>
            <a:ext cx="3762375" cy="4114800"/>
          </a:xfrm>
        </p:spPr>
        <p:txBody>
          <a:bodyPr>
            <a:normAutofit fontScale="85000" lnSpcReduction="20000"/>
          </a:bodyPr>
          <a:lstStyle/>
          <a:p>
            <a:r>
              <a:rPr lang="en-US" b="1" dirty="0" smtClean="0"/>
              <a:t>Purpose</a:t>
            </a:r>
            <a:r>
              <a:rPr lang="en-US" dirty="0" smtClean="0"/>
              <a:t>: Total personality</a:t>
            </a:r>
          </a:p>
          <a:p>
            <a:endParaRPr lang="en-US" dirty="0" smtClean="0"/>
          </a:p>
          <a:p>
            <a:r>
              <a:rPr lang="en-US" b="1" dirty="0" smtClean="0"/>
              <a:t>Initiative: </a:t>
            </a:r>
            <a:r>
              <a:rPr lang="en-US" dirty="0" smtClean="0"/>
              <a:t>From individual himself- internal motivation</a:t>
            </a:r>
          </a:p>
          <a:p>
            <a:endParaRPr lang="en-US" dirty="0" smtClean="0"/>
          </a:p>
          <a:p>
            <a:r>
              <a:rPr lang="en-US" b="1" dirty="0" smtClean="0"/>
              <a:t>Nature of the Purpose: </a:t>
            </a:r>
            <a:r>
              <a:rPr lang="en-US" dirty="0" smtClean="0"/>
              <a:t>Proactive process- to meet future needs</a:t>
            </a:r>
          </a:p>
          <a:p>
            <a:endParaRPr lang="en-US" dirty="0"/>
          </a:p>
        </p:txBody>
      </p:sp>
      <p:sp>
        <p:nvSpPr>
          <p:cNvPr id="5" name="Text Placeholder 4"/>
          <p:cNvSpPr>
            <a:spLocks noGrp="1"/>
          </p:cNvSpPr>
          <p:nvPr>
            <p:ph type="body" sz="quarter" idx="1"/>
          </p:nvPr>
        </p:nvSpPr>
        <p:spPr>
          <a:xfrm>
            <a:off x="457200" y="1066800"/>
            <a:ext cx="3657600" cy="1161288"/>
          </a:xfrm>
        </p:spPr>
        <p:txBody>
          <a:bodyPr/>
          <a:lstStyle/>
          <a:p>
            <a:r>
              <a:rPr lang="en-US" dirty="0" smtClean="0"/>
              <a:t>TRAINING</a:t>
            </a:r>
            <a:endParaRPr lang="en-US" dirty="0"/>
          </a:p>
        </p:txBody>
      </p:sp>
      <p:sp>
        <p:nvSpPr>
          <p:cNvPr id="6" name="Text Placeholder 5"/>
          <p:cNvSpPr>
            <a:spLocks noGrp="1"/>
          </p:cNvSpPr>
          <p:nvPr>
            <p:ph type="body" sz="quarter" idx="3"/>
          </p:nvPr>
        </p:nvSpPr>
        <p:spPr>
          <a:xfrm>
            <a:off x="4343400" y="1066800"/>
            <a:ext cx="3657600" cy="1161288"/>
          </a:xfrm>
        </p:spPr>
        <p:txBody>
          <a:bodyPr/>
          <a:lstStyle/>
          <a:p>
            <a:r>
              <a:rPr lang="en-US" dirty="0" smtClean="0"/>
              <a:t>DEVELOPMENT</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chemeClr val="tx1"/>
                </a:solidFill>
              </a:rPr>
              <a:t>REASONS FOR TRAINING</a:t>
            </a:r>
            <a:endParaRPr lang="en-US" b="1" dirty="0">
              <a:solidFill>
                <a:schemeClr val="tx1"/>
              </a:solidFill>
            </a:endParaRPr>
          </a:p>
        </p:txBody>
      </p:sp>
      <p:sp>
        <p:nvSpPr>
          <p:cNvPr id="3" name="Content Placeholder 2"/>
          <p:cNvSpPr>
            <a:spLocks noGrp="1"/>
          </p:cNvSpPr>
          <p:nvPr>
            <p:ph sz="quarter" idx="1"/>
          </p:nvPr>
        </p:nvSpPr>
        <p:spPr/>
        <p:txBody>
          <a:bodyPr>
            <a:normAutofit/>
          </a:bodyPr>
          <a:lstStyle/>
          <a:p>
            <a:pPr algn="just"/>
            <a:r>
              <a:rPr lang="en-US" sz="3600" dirty="0" smtClean="0"/>
              <a:t>Training is required on account of  the </a:t>
            </a:r>
            <a:r>
              <a:rPr lang="en-US" sz="3600" b="1" dirty="0" smtClean="0"/>
              <a:t>following reasons;</a:t>
            </a:r>
          </a:p>
          <a:p>
            <a:pPr marL="514350" indent="-514350" algn="just">
              <a:buAutoNum type="romanLcParenR"/>
            </a:pPr>
            <a:r>
              <a:rPr lang="en-US" sz="3600" dirty="0" smtClean="0"/>
              <a:t>Job Requirements</a:t>
            </a:r>
          </a:p>
          <a:p>
            <a:pPr marL="514350" indent="-514350" algn="just">
              <a:buAutoNum type="romanLcParenR"/>
            </a:pPr>
            <a:r>
              <a:rPr lang="en-US" sz="3600" dirty="0" smtClean="0"/>
              <a:t>Technological Changes</a:t>
            </a:r>
          </a:p>
          <a:p>
            <a:pPr marL="514350" indent="-514350" algn="just">
              <a:buAutoNum type="romanLcParenR"/>
            </a:pPr>
            <a:r>
              <a:rPr lang="en-US" sz="3600" dirty="0" smtClean="0"/>
              <a:t>Organizational Viability</a:t>
            </a:r>
          </a:p>
          <a:p>
            <a:pPr marL="514350" indent="-514350" algn="just">
              <a:buAutoNum type="romanLcParenR"/>
            </a:pPr>
            <a:r>
              <a:rPr lang="en-US" sz="3600" dirty="0" smtClean="0"/>
              <a:t>Internal Mobility</a:t>
            </a:r>
            <a:endParaRPr lang="en-US" sz="36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258762"/>
          </a:xfrm>
        </p:spPr>
        <p:txBody>
          <a:bodyPr>
            <a:normAutofit fontScale="90000"/>
          </a:bodyPr>
          <a:lstStyle/>
          <a:p>
            <a:endParaRPr lang="en-US" dirty="0">
              <a:solidFill>
                <a:schemeClr val="tx1"/>
              </a:solidFill>
            </a:endParaRPr>
          </a:p>
        </p:txBody>
      </p:sp>
      <p:sp>
        <p:nvSpPr>
          <p:cNvPr id="3" name="Content Placeholder 2"/>
          <p:cNvSpPr>
            <a:spLocks noGrp="1"/>
          </p:cNvSpPr>
          <p:nvPr>
            <p:ph sz="quarter" idx="1"/>
          </p:nvPr>
        </p:nvSpPr>
        <p:spPr>
          <a:xfrm>
            <a:off x="457200" y="457200"/>
            <a:ext cx="7467600" cy="6016752"/>
          </a:xfrm>
        </p:spPr>
        <p:txBody>
          <a:bodyPr/>
          <a:lstStyle/>
          <a:p>
            <a:pPr algn="just"/>
            <a:endParaRPr lang="en-US" dirty="0" smtClean="0"/>
          </a:p>
          <a:p>
            <a:pPr algn="just">
              <a:buNone/>
            </a:pPr>
            <a:r>
              <a:rPr lang="en-US" dirty="0" err="1" smtClean="0"/>
              <a:t>i</a:t>
            </a:r>
            <a:r>
              <a:rPr lang="en-US" dirty="0" smtClean="0"/>
              <a:t>) </a:t>
            </a:r>
            <a:r>
              <a:rPr lang="en-US" b="1" dirty="0" smtClean="0"/>
              <a:t>Job Requirements</a:t>
            </a:r>
          </a:p>
          <a:p>
            <a:pPr algn="just"/>
            <a:r>
              <a:rPr lang="en-US" sz="2800" dirty="0" smtClean="0"/>
              <a:t>Employees selected for a job might lack the qualifications required to perform the job effectively. New and inexperienced employees require detailed instruction for effective performance on-the-job. In some cases the past experience, attitude and behavior patterns of experienced personnel might be inappropriate to the new organization. Remedial training should be given to such people to match the needs of the organization</a:t>
            </a:r>
            <a:endParaRPr lang="en-US" sz="28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334962"/>
          </a:xfrm>
        </p:spPr>
        <p:txBody>
          <a:bodyPr>
            <a:normAutofit fontScale="90000"/>
          </a:bodyPr>
          <a:lstStyle/>
          <a:p>
            <a:endParaRPr lang="en-US" dirty="0"/>
          </a:p>
        </p:txBody>
      </p:sp>
      <p:sp>
        <p:nvSpPr>
          <p:cNvPr id="3" name="Content Placeholder 2"/>
          <p:cNvSpPr>
            <a:spLocks noGrp="1"/>
          </p:cNvSpPr>
          <p:nvPr>
            <p:ph sz="quarter" idx="1"/>
          </p:nvPr>
        </p:nvSpPr>
        <p:spPr>
          <a:xfrm>
            <a:off x="457200" y="762000"/>
            <a:ext cx="7467600" cy="5711952"/>
          </a:xfrm>
        </p:spPr>
        <p:txBody>
          <a:bodyPr>
            <a:normAutofit/>
          </a:bodyPr>
          <a:lstStyle/>
          <a:p>
            <a:r>
              <a:rPr lang="en-US" sz="2800" b="1" dirty="0" smtClean="0"/>
              <a:t>ii) Technological Changes; </a:t>
            </a:r>
          </a:p>
          <a:p>
            <a:pPr algn="just">
              <a:buNone/>
            </a:pPr>
            <a:r>
              <a:rPr lang="en-US" sz="2800" b="1" dirty="0" smtClean="0"/>
              <a:t>  </a:t>
            </a:r>
            <a:r>
              <a:rPr lang="en-US" sz="2800" dirty="0" smtClean="0"/>
              <a:t>Technology is changing very fast. Now automation and mechanization are being increasingly applied in offices and service sectors. Due to increase in use of fast changing techniques requires training into new technology. For instance, staff in public sector bank are being trained due to computerization of banking operations</a:t>
            </a:r>
            <a:endParaRPr lang="en-US" sz="28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487362"/>
          </a:xfrm>
        </p:spPr>
        <p:txBody>
          <a:bodyPr>
            <a:normAutofit fontScale="90000"/>
          </a:bodyPr>
          <a:lstStyle/>
          <a:p>
            <a:endParaRPr lang="en-US" dirty="0"/>
          </a:p>
        </p:txBody>
      </p:sp>
      <p:sp>
        <p:nvSpPr>
          <p:cNvPr id="3" name="Content Placeholder 2"/>
          <p:cNvSpPr>
            <a:spLocks noGrp="1"/>
          </p:cNvSpPr>
          <p:nvPr>
            <p:ph sz="quarter" idx="1"/>
          </p:nvPr>
        </p:nvSpPr>
        <p:spPr>
          <a:xfrm>
            <a:off x="457200" y="914400"/>
            <a:ext cx="7467600" cy="5559552"/>
          </a:xfrm>
        </p:spPr>
        <p:txBody>
          <a:bodyPr>
            <a:normAutofit fontScale="85000" lnSpcReduction="20000"/>
          </a:bodyPr>
          <a:lstStyle/>
          <a:p>
            <a:r>
              <a:rPr lang="en-US" dirty="0" smtClean="0"/>
              <a:t>iii) </a:t>
            </a:r>
            <a:r>
              <a:rPr lang="en-US" b="1" dirty="0" smtClean="0"/>
              <a:t>Organizational Viability</a:t>
            </a:r>
          </a:p>
          <a:p>
            <a:pPr algn="just">
              <a:buNone/>
            </a:pPr>
            <a:r>
              <a:rPr lang="en-US" dirty="0" smtClean="0"/>
              <a:t>   In order to survive and grow, an organization must continually adapt itself to the changing environment. Existing employees need refresher training to keep them abreast of new knowledge.</a:t>
            </a:r>
          </a:p>
          <a:p>
            <a:pPr algn="just">
              <a:buNone/>
            </a:pPr>
            <a:endParaRPr lang="en-US" dirty="0" smtClean="0"/>
          </a:p>
          <a:p>
            <a:pPr algn="just">
              <a:buNone/>
            </a:pPr>
            <a:r>
              <a:rPr lang="en-US" dirty="0" smtClean="0"/>
              <a:t>iv) </a:t>
            </a:r>
            <a:r>
              <a:rPr lang="en-US" b="1" dirty="0" smtClean="0"/>
              <a:t>Internal Mobility</a:t>
            </a:r>
          </a:p>
          <a:p>
            <a:pPr algn="just">
              <a:buNone/>
            </a:pPr>
            <a:r>
              <a:rPr lang="en-US" dirty="0" smtClean="0"/>
              <a:t>   Training becomes necessary when an employee moves from one job to another due to promotion and transfer. Employees chosen for higher level jobs need to be trained before they are asked to perform the higher responsibilities</a:t>
            </a:r>
          </a:p>
          <a:p>
            <a:pPr algn="just">
              <a:buNone/>
            </a:pPr>
            <a:r>
              <a:rPr lang="en-US" b="1" dirty="0" smtClean="0"/>
              <a:t>    </a:t>
            </a:r>
            <a:endParaRPr lang="en-US" b="1"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chemeClr val="tx1"/>
                </a:solidFill>
              </a:rPr>
              <a:t>Importance of training</a:t>
            </a:r>
            <a:endParaRPr lang="en-US" b="1" dirty="0">
              <a:solidFill>
                <a:schemeClr val="tx1"/>
              </a:solidFill>
            </a:endParaRPr>
          </a:p>
        </p:txBody>
      </p:sp>
      <p:sp>
        <p:nvSpPr>
          <p:cNvPr id="3" name="Content Placeholder 2"/>
          <p:cNvSpPr>
            <a:spLocks noGrp="1"/>
          </p:cNvSpPr>
          <p:nvPr>
            <p:ph sz="quarter" idx="1"/>
          </p:nvPr>
        </p:nvSpPr>
        <p:spPr/>
        <p:txBody>
          <a:bodyPr/>
          <a:lstStyle/>
          <a:p>
            <a:r>
              <a:rPr lang="en-US" dirty="0" smtClean="0"/>
              <a:t>(</a:t>
            </a:r>
            <a:r>
              <a:rPr lang="en-US" dirty="0" err="1" smtClean="0"/>
              <a:t>i</a:t>
            </a:r>
            <a:r>
              <a:rPr lang="en-US" dirty="0" smtClean="0"/>
              <a:t>) </a:t>
            </a:r>
            <a:r>
              <a:rPr lang="en-US" b="1" dirty="0" smtClean="0"/>
              <a:t>Higher Productivity</a:t>
            </a:r>
          </a:p>
          <a:p>
            <a:pPr algn="just">
              <a:buNone/>
            </a:pPr>
            <a:r>
              <a:rPr lang="en-US" b="1" dirty="0" smtClean="0"/>
              <a:t>    </a:t>
            </a:r>
            <a:r>
              <a:rPr lang="en-US" dirty="0" smtClean="0"/>
              <a:t>Training helps to improve the level of performance. Trained employees perform better by using better method of work.</a:t>
            </a:r>
          </a:p>
          <a:p>
            <a:pPr algn="just">
              <a:buNone/>
            </a:pPr>
            <a:r>
              <a:rPr lang="en-US" dirty="0" smtClean="0"/>
              <a:t> (ii) </a:t>
            </a:r>
            <a:r>
              <a:rPr lang="en-US" b="1" dirty="0" smtClean="0"/>
              <a:t>Better Quality of Work</a:t>
            </a:r>
          </a:p>
          <a:p>
            <a:pPr algn="just">
              <a:buNone/>
            </a:pPr>
            <a:r>
              <a:rPr lang="en-US" b="1" dirty="0" smtClean="0"/>
              <a:t>    </a:t>
            </a:r>
            <a:r>
              <a:rPr lang="en-US" dirty="0" smtClean="0"/>
              <a:t>In formal training the best methods are standardized and taught to employees. Uniformity of work methods and procedures  helps to improve the quality of product or service</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334962"/>
          </a:xfrm>
        </p:spPr>
        <p:txBody>
          <a:bodyPr>
            <a:normAutofit fontScale="90000"/>
          </a:bodyPr>
          <a:lstStyle/>
          <a:p>
            <a:endParaRPr lang="en-US" dirty="0"/>
          </a:p>
        </p:txBody>
      </p:sp>
      <p:sp>
        <p:nvSpPr>
          <p:cNvPr id="3" name="Content Placeholder 2"/>
          <p:cNvSpPr>
            <a:spLocks noGrp="1"/>
          </p:cNvSpPr>
          <p:nvPr>
            <p:ph sz="quarter" idx="1"/>
          </p:nvPr>
        </p:nvSpPr>
        <p:spPr>
          <a:xfrm>
            <a:off x="457200" y="838200"/>
            <a:ext cx="7467600" cy="5635752"/>
          </a:xfrm>
        </p:spPr>
        <p:txBody>
          <a:bodyPr/>
          <a:lstStyle/>
          <a:p>
            <a:pPr>
              <a:buNone/>
            </a:pPr>
            <a:r>
              <a:rPr lang="en-US" b="1" dirty="0" smtClean="0"/>
              <a:t>(iii) Cost Reduction;</a:t>
            </a:r>
          </a:p>
          <a:p>
            <a:pPr>
              <a:buNone/>
            </a:pPr>
            <a:r>
              <a:rPr lang="en-US" b="1" dirty="0" smtClean="0"/>
              <a:t>  </a:t>
            </a:r>
            <a:r>
              <a:rPr lang="en-US" dirty="0" smtClean="0"/>
              <a:t>Trained employees make more economical use of materials and machines</a:t>
            </a:r>
          </a:p>
          <a:p>
            <a:pPr>
              <a:buNone/>
            </a:pPr>
            <a:r>
              <a:rPr lang="en-US" b="1" dirty="0" smtClean="0"/>
              <a:t>(iv) Reduced Supervision;</a:t>
            </a:r>
          </a:p>
          <a:p>
            <a:pPr algn="just">
              <a:buNone/>
            </a:pPr>
            <a:r>
              <a:rPr lang="en-US" b="1" dirty="0" smtClean="0"/>
              <a:t>  </a:t>
            </a:r>
            <a:r>
              <a:rPr lang="en-US" dirty="0" smtClean="0"/>
              <a:t>Well trained employees tend to be self reliant and motivated. They need less guidance and control.</a:t>
            </a:r>
          </a:p>
          <a:p>
            <a:pPr algn="just">
              <a:buNone/>
            </a:pPr>
            <a:r>
              <a:rPr lang="en-US" b="1" dirty="0" smtClean="0"/>
              <a:t>(v) Low Accident Rate;</a:t>
            </a:r>
          </a:p>
          <a:p>
            <a:pPr algn="just">
              <a:buNone/>
            </a:pPr>
            <a:r>
              <a:rPr lang="en-US" b="1" dirty="0" smtClean="0"/>
              <a:t>   </a:t>
            </a:r>
            <a:r>
              <a:rPr lang="en-US" dirty="0" smtClean="0"/>
              <a:t>Trained personnel adopt the right work methods and make use of the prescribed safety devices. Therefore the frequency of is accident reduced.</a:t>
            </a:r>
          </a:p>
          <a:p>
            <a:pPr algn="just">
              <a:buNone/>
            </a:pPr>
            <a:r>
              <a:rPr lang="en-US" b="1" dirty="0" smtClean="0"/>
              <a:t> (vi) High Morale;</a:t>
            </a:r>
          </a:p>
          <a:p>
            <a:pPr algn="just">
              <a:buNone/>
            </a:pPr>
            <a:r>
              <a:rPr lang="en-US" b="1" dirty="0" smtClean="0"/>
              <a:t>   </a:t>
            </a:r>
            <a:r>
              <a:rPr lang="en-US" dirty="0" smtClean="0"/>
              <a:t>Proper training can develop positive attitude among employees.</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b="1" dirty="0" smtClean="0"/>
              <a:t>vii) Personal Growth</a:t>
            </a:r>
            <a:endParaRPr lang="en-US" dirty="0" smtClean="0"/>
          </a:p>
          <a:p>
            <a:pPr>
              <a:buNone/>
            </a:pPr>
            <a:r>
              <a:rPr lang="en-US" b="1" dirty="0" smtClean="0"/>
              <a:t>   </a:t>
            </a:r>
            <a:r>
              <a:rPr lang="en-US" dirty="0" smtClean="0"/>
              <a:t>Training enlarges the knowledge and skills of the particular participants. Therefore, well trained personnel can grow faster in their career since training helps to develop people for promotion to higher posts and develop future managers.</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p:nvPr>
        </p:nvSpPr>
        <p:spPr>
          <a:xfrm>
            <a:off x="685800" y="152401"/>
            <a:ext cx="8001000" cy="685799"/>
          </a:xfrm>
        </p:spPr>
        <p:txBody>
          <a:bodyPr/>
          <a:lstStyle/>
          <a:p>
            <a:pPr algn="ct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dirty="0" smtClean="0">
                <a:solidFill>
                  <a:schemeClr val="tx1">
                    <a:lumMod val="95000"/>
                    <a:lumOff val="5000"/>
                  </a:schemeClr>
                </a:solidFill>
              </a:rPr>
              <a:t>Training and Development Trends</a:t>
            </a:r>
          </a:p>
        </p:txBody>
      </p:sp>
      <p:sp>
        <p:nvSpPr>
          <p:cNvPr id="8194" name="Rectangle 2"/>
          <p:cNvSpPr>
            <a:spLocks noGrp="1" noChangeArrowheads="1"/>
          </p:cNvSpPr>
          <p:nvPr>
            <p:ph sz="quarter" idx="1"/>
          </p:nvPr>
        </p:nvSpPr>
        <p:spPr>
          <a:xfrm>
            <a:off x="457200" y="914400"/>
            <a:ext cx="8229600" cy="5216525"/>
          </a:xfrm>
        </p:spPr>
        <p:txBody>
          <a:bodyPr>
            <a:normAutofit lnSpcReduction="10000"/>
          </a:bodyPr>
          <a:lstStyle/>
          <a:p>
            <a:pPr marL="341630" indent="-341630" eaLnBrk="1" hangingPunct="1">
              <a:lnSpc>
                <a:spcPct val="90000"/>
              </a:lnSpc>
              <a:spcBef>
                <a:spcPts val="600"/>
              </a:spcBef>
              <a:buClr>
                <a:srgbClr val="330066"/>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dirty="0" smtClean="0"/>
              <a:t>Skill requirements will continue to increase in response to rapid technological change;</a:t>
            </a:r>
          </a:p>
          <a:p>
            <a:pPr marL="341630" indent="-341630" eaLnBrk="1" hangingPunct="1">
              <a:lnSpc>
                <a:spcPct val="90000"/>
              </a:lnSpc>
              <a:spcBef>
                <a:spcPts val="600"/>
              </a:spcBef>
              <a:buClr>
                <a:srgbClr val="330066"/>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dirty="0" smtClean="0"/>
              <a:t>Workforce will become significantly educated and more diverse;</a:t>
            </a:r>
          </a:p>
          <a:p>
            <a:pPr marL="341630" indent="-341630" eaLnBrk="1" hangingPunct="1">
              <a:lnSpc>
                <a:spcPct val="90000"/>
              </a:lnSpc>
              <a:spcBef>
                <a:spcPts val="600"/>
              </a:spcBef>
              <a:buClr>
                <a:srgbClr val="330066"/>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dirty="0" smtClean="0"/>
              <a:t>Corporate restructuring will continue to reshape businesses;</a:t>
            </a:r>
          </a:p>
          <a:p>
            <a:pPr marL="341630" indent="-341630" eaLnBrk="1" hangingPunct="1">
              <a:lnSpc>
                <a:spcPct val="90000"/>
              </a:lnSpc>
              <a:spcBef>
                <a:spcPts val="600"/>
              </a:spcBef>
              <a:buClr>
                <a:srgbClr val="330066"/>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dirty="0" smtClean="0"/>
              <a:t>As outsourcing of training increases, training departments have shrunk;</a:t>
            </a:r>
          </a:p>
          <a:p>
            <a:pPr marL="341630" indent="-341630" eaLnBrk="1" hangingPunct="1">
              <a:lnSpc>
                <a:spcPct val="90000"/>
              </a:lnSpc>
              <a:spcBef>
                <a:spcPts val="600"/>
              </a:spcBef>
              <a:buClr>
                <a:srgbClr val="330066"/>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dirty="0" smtClean="0"/>
              <a:t>The role of training departments will change significantly acting as brokers;</a:t>
            </a:r>
          </a:p>
          <a:p>
            <a:pPr marL="341630" indent="-341630" eaLnBrk="1" hangingPunct="1">
              <a:lnSpc>
                <a:spcPct val="90000"/>
              </a:lnSpc>
              <a:spcBef>
                <a:spcPts val="600"/>
              </a:spcBef>
              <a:buClr>
                <a:srgbClr val="330066"/>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dirty="0" smtClean="0"/>
              <a:t>Integrated high-performance work systems will proliferate (just-in-time &amp; just what is needed);</a:t>
            </a:r>
          </a:p>
          <a:p>
            <a:pPr marL="341630" indent="-341630" eaLnBrk="1" hangingPunct="1">
              <a:lnSpc>
                <a:spcPct val="90000"/>
              </a:lnSpc>
              <a:spcBef>
                <a:spcPts val="600"/>
              </a:spcBef>
              <a:buClr>
                <a:srgbClr val="330066"/>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dirty="0" smtClean="0"/>
              <a:t>More firms will strive to become learning organizations;</a:t>
            </a:r>
          </a:p>
          <a:p>
            <a:pPr marL="341630" indent="-341630" eaLnBrk="1" hangingPunct="1">
              <a:lnSpc>
                <a:spcPct val="90000"/>
              </a:lnSpc>
              <a:spcBef>
                <a:spcPts val="600"/>
              </a:spcBef>
              <a:buClr>
                <a:srgbClr val="330066"/>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dirty="0" smtClean="0"/>
              <a:t>Emphasis on human performance management will be put into action.</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additive="repl">
                                        <p:cTn id="6" dur="1" fill="hold">
                                          <p:stCondLst>
                                            <p:cond delay="0"/>
                                          </p:stCondLst>
                                        </p:cTn>
                                        <p:tgtEl>
                                          <p:spTgt spid="81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additive="repl">
                                        <p:cTn id="10" dur="1" fill="hold">
                                          <p:stCondLst>
                                            <p:cond delay="0"/>
                                          </p:stCondLst>
                                        </p:cTn>
                                        <p:tgtEl>
                                          <p:spTgt spid="8194">
                                            <p:txEl>
                                              <p:pRg st="0" end="0"/>
                                            </p:txEl>
                                          </p:spTgt>
                                        </p:tgtEl>
                                        <p:attrNameLst>
                                          <p:attrName>style.visibility</p:attrName>
                                        </p:attrNameLst>
                                      </p:cBhvr>
                                      <p:to>
                                        <p:strVal val="visible"/>
                                      </p:to>
                                    </p:set>
                                    <p:anim calcmode="lin" valueType="num">
                                      <p:cBhvr>
                                        <p:cTn id="11" dur="500" fill="hold"/>
                                        <p:tgtEl>
                                          <p:spTgt spid="8194">
                                            <p:txEl>
                                              <p:pRg st="0" end="0"/>
                                            </p:txEl>
                                          </p:spTgt>
                                        </p:tgtEl>
                                        <p:attrNameLst>
                                          <p:attrName>ppt_x</p:attrName>
                                        </p:attrNameLst>
                                      </p:cBhvr>
                                      <p:tavLst>
                                        <p:tav tm="100000">
                                          <p:val>
                                            <p:strVal val="0-#ppt_w/2"/>
                                          </p:val>
                                        </p:tav>
                                        <p:tav tm="100000">
                                          <p:val>
                                            <p:strVal val="#ppt_x"/>
                                          </p:val>
                                        </p:tav>
                                      </p:tavLst>
                                    </p:anim>
                                    <p:anim calcmode="lin" valueType="num">
                                      <p:cBhvr>
                                        <p:cTn id="12" dur="500" fill="hold"/>
                                        <p:tgtEl>
                                          <p:spTgt spid="8194">
                                            <p:txEl>
                                              <p:pRg st="0" end="0"/>
                                            </p:txEl>
                                          </p:spTgt>
                                        </p:tgtEl>
                                        <p:attrNameLst>
                                          <p:attrName>ppt_y</p:attrName>
                                        </p:attrNameLst>
                                      </p:cBhvr>
                                      <p:tavLst>
                                        <p:tav tm="10000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additive="repl">
                                        <p:cTn id="16" dur="1" fill="hold">
                                          <p:stCondLst>
                                            <p:cond delay="0"/>
                                          </p:stCondLst>
                                        </p:cTn>
                                        <p:tgtEl>
                                          <p:spTgt spid="8194">
                                            <p:txEl>
                                              <p:pRg st="1" end="1"/>
                                            </p:txEl>
                                          </p:spTgt>
                                        </p:tgtEl>
                                        <p:attrNameLst>
                                          <p:attrName>style.visibility</p:attrName>
                                        </p:attrNameLst>
                                      </p:cBhvr>
                                      <p:to>
                                        <p:strVal val="visible"/>
                                      </p:to>
                                    </p:set>
                                    <p:anim calcmode="lin" valueType="num">
                                      <p:cBhvr>
                                        <p:cTn id="17" dur="500" fill="hold"/>
                                        <p:tgtEl>
                                          <p:spTgt spid="8194">
                                            <p:txEl>
                                              <p:pRg st="1" end="1"/>
                                            </p:txEl>
                                          </p:spTgt>
                                        </p:tgtEl>
                                        <p:attrNameLst>
                                          <p:attrName>ppt_x</p:attrName>
                                        </p:attrNameLst>
                                      </p:cBhvr>
                                      <p:tavLst>
                                        <p:tav tm="100000">
                                          <p:val>
                                            <p:strVal val="0-#ppt_w/2"/>
                                          </p:val>
                                        </p:tav>
                                        <p:tav tm="100000">
                                          <p:val>
                                            <p:strVal val="#ppt_x"/>
                                          </p:val>
                                        </p:tav>
                                      </p:tavLst>
                                    </p:anim>
                                    <p:anim calcmode="lin" valueType="num">
                                      <p:cBhvr>
                                        <p:cTn id="18" dur="500" fill="hold"/>
                                        <p:tgtEl>
                                          <p:spTgt spid="8194">
                                            <p:txEl>
                                              <p:pRg st="1" end="1"/>
                                            </p:txEl>
                                          </p:spTgt>
                                        </p:tgtEl>
                                        <p:attrNameLst>
                                          <p:attrName>ppt_y</p:attrName>
                                        </p:attrNameLst>
                                      </p:cBhvr>
                                      <p:tavLst>
                                        <p:tav tm="10000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additive="repl">
                                        <p:cTn id="22" dur="1" fill="hold">
                                          <p:stCondLst>
                                            <p:cond delay="0"/>
                                          </p:stCondLst>
                                        </p:cTn>
                                        <p:tgtEl>
                                          <p:spTgt spid="8194">
                                            <p:txEl>
                                              <p:pRg st="2" end="2"/>
                                            </p:txEl>
                                          </p:spTgt>
                                        </p:tgtEl>
                                        <p:attrNameLst>
                                          <p:attrName>style.visibility</p:attrName>
                                        </p:attrNameLst>
                                      </p:cBhvr>
                                      <p:to>
                                        <p:strVal val="visible"/>
                                      </p:to>
                                    </p:set>
                                    <p:anim calcmode="lin" valueType="num">
                                      <p:cBhvr>
                                        <p:cTn id="23" dur="500" fill="hold"/>
                                        <p:tgtEl>
                                          <p:spTgt spid="8194">
                                            <p:txEl>
                                              <p:pRg st="2" end="2"/>
                                            </p:txEl>
                                          </p:spTgt>
                                        </p:tgtEl>
                                        <p:attrNameLst>
                                          <p:attrName>ppt_x</p:attrName>
                                        </p:attrNameLst>
                                      </p:cBhvr>
                                      <p:tavLst>
                                        <p:tav tm="100000">
                                          <p:val>
                                            <p:strVal val="0-#ppt_w/2"/>
                                          </p:val>
                                        </p:tav>
                                        <p:tav tm="100000">
                                          <p:val>
                                            <p:strVal val="#ppt_x"/>
                                          </p:val>
                                        </p:tav>
                                      </p:tavLst>
                                    </p:anim>
                                    <p:anim calcmode="lin" valueType="num">
                                      <p:cBhvr>
                                        <p:cTn id="24" dur="500" fill="hold"/>
                                        <p:tgtEl>
                                          <p:spTgt spid="8194">
                                            <p:txEl>
                                              <p:pRg st="2" end="2"/>
                                            </p:txEl>
                                          </p:spTgt>
                                        </p:tgtEl>
                                        <p:attrNameLst>
                                          <p:attrName>ppt_y</p:attrName>
                                        </p:attrNameLst>
                                      </p:cBhvr>
                                      <p:tavLst>
                                        <p:tav tm="10000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additive="repl">
                                        <p:cTn id="28" dur="1" fill="hold">
                                          <p:stCondLst>
                                            <p:cond delay="0"/>
                                          </p:stCondLst>
                                        </p:cTn>
                                        <p:tgtEl>
                                          <p:spTgt spid="8194">
                                            <p:txEl>
                                              <p:pRg st="3" end="3"/>
                                            </p:txEl>
                                          </p:spTgt>
                                        </p:tgtEl>
                                        <p:attrNameLst>
                                          <p:attrName>style.visibility</p:attrName>
                                        </p:attrNameLst>
                                      </p:cBhvr>
                                      <p:to>
                                        <p:strVal val="visible"/>
                                      </p:to>
                                    </p:set>
                                    <p:anim calcmode="lin" valueType="num">
                                      <p:cBhvr>
                                        <p:cTn id="29" dur="500" fill="hold"/>
                                        <p:tgtEl>
                                          <p:spTgt spid="8194">
                                            <p:txEl>
                                              <p:pRg st="3" end="3"/>
                                            </p:txEl>
                                          </p:spTgt>
                                        </p:tgtEl>
                                        <p:attrNameLst>
                                          <p:attrName>ppt_x</p:attrName>
                                        </p:attrNameLst>
                                      </p:cBhvr>
                                      <p:tavLst>
                                        <p:tav tm="100000">
                                          <p:val>
                                            <p:strVal val="0-#ppt_w/2"/>
                                          </p:val>
                                        </p:tav>
                                        <p:tav tm="100000">
                                          <p:val>
                                            <p:strVal val="#ppt_x"/>
                                          </p:val>
                                        </p:tav>
                                      </p:tavLst>
                                    </p:anim>
                                    <p:anim calcmode="lin" valueType="num">
                                      <p:cBhvr>
                                        <p:cTn id="30" dur="500" fill="hold"/>
                                        <p:tgtEl>
                                          <p:spTgt spid="8194">
                                            <p:txEl>
                                              <p:pRg st="3" end="3"/>
                                            </p:txEl>
                                          </p:spTgt>
                                        </p:tgtEl>
                                        <p:attrNameLst>
                                          <p:attrName>ppt_y</p:attrName>
                                        </p:attrNameLst>
                                      </p:cBhvr>
                                      <p:tavLst>
                                        <p:tav tm="10000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additive="repl">
                                        <p:cTn id="34" dur="1" fill="hold">
                                          <p:stCondLst>
                                            <p:cond delay="0"/>
                                          </p:stCondLst>
                                        </p:cTn>
                                        <p:tgtEl>
                                          <p:spTgt spid="8194">
                                            <p:txEl>
                                              <p:pRg st="4" end="4"/>
                                            </p:txEl>
                                          </p:spTgt>
                                        </p:tgtEl>
                                        <p:attrNameLst>
                                          <p:attrName>style.visibility</p:attrName>
                                        </p:attrNameLst>
                                      </p:cBhvr>
                                      <p:to>
                                        <p:strVal val="visible"/>
                                      </p:to>
                                    </p:set>
                                    <p:anim calcmode="lin" valueType="num">
                                      <p:cBhvr>
                                        <p:cTn id="35" dur="500" fill="hold"/>
                                        <p:tgtEl>
                                          <p:spTgt spid="8194">
                                            <p:txEl>
                                              <p:pRg st="4" end="4"/>
                                            </p:txEl>
                                          </p:spTgt>
                                        </p:tgtEl>
                                        <p:attrNameLst>
                                          <p:attrName>ppt_x</p:attrName>
                                        </p:attrNameLst>
                                      </p:cBhvr>
                                      <p:tavLst>
                                        <p:tav tm="100000">
                                          <p:val>
                                            <p:strVal val="0-#ppt_w/2"/>
                                          </p:val>
                                        </p:tav>
                                        <p:tav tm="100000">
                                          <p:val>
                                            <p:strVal val="#ppt_x"/>
                                          </p:val>
                                        </p:tav>
                                      </p:tavLst>
                                    </p:anim>
                                    <p:anim calcmode="lin" valueType="num">
                                      <p:cBhvr>
                                        <p:cTn id="36" dur="500" fill="hold"/>
                                        <p:tgtEl>
                                          <p:spTgt spid="8194">
                                            <p:txEl>
                                              <p:pRg st="4" end="4"/>
                                            </p:txEl>
                                          </p:spTgt>
                                        </p:tgtEl>
                                        <p:attrNameLst>
                                          <p:attrName>ppt_y</p:attrName>
                                        </p:attrNameLst>
                                      </p:cBhvr>
                                      <p:tavLst>
                                        <p:tav tm="10000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nodeType="clickEffect">
                                  <p:stCondLst>
                                    <p:cond delay="0"/>
                                  </p:stCondLst>
                                  <p:childTnLst>
                                    <p:set>
                                      <p:cBhvr additive="repl">
                                        <p:cTn id="40" dur="1" fill="hold">
                                          <p:stCondLst>
                                            <p:cond delay="0"/>
                                          </p:stCondLst>
                                        </p:cTn>
                                        <p:tgtEl>
                                          <p:spTgt spid="8194">
                                            <p:txEl>
                                              <p:pRg st="5" end="5"/>
                                            </p:txEl>
                                          </p:spTgt>
                                        </p:tgtEl>
                                        <p:attrNameLst>
                                          <p:attrName>style.visibility</p:attrName>
                                        </p:attrNameLst>
                                      </p:cBhvr>
                                      <p:to>
                                        <p:strVal val="visible"/>
                                      </p:to>
                                    </p:set>
                                    <p:anim calcmode="lin" valueType="num">
                                      <p:cBhvr>
                                        <p:cTn id="41" dur="500" fill="hold"/>
                                        <p:tgtEl>
                                          <p:spTgt spid="8194">
                                            <p:txEl>
                                              <p:pRg st="5" end="5"/>
                                            </p:txEl>
                                          </p:spTgt>
                                        </p:tgtEl>
                                        <p:attrNameLst>
                                          <p:attrName>ppt_x</p:attrName>
                                        </p:attrNameLst>
                                      </p:cBhvr>
                                      <p:tavLst>
                                        <p:tav tm="100000">
                                          <p:val>
                                            <p:strVal val="0-#ppt_w/2"/>
                                          </p:val>
                                        </p:tav>
                                        <p:tav tm="100000">
                                          <p:val>
                                            <p:strVal val="#ppt_x"/>
                                          </p:val>
                                        </p:tav>
                                      </p:tavLst>
                                    </p:anim>
                                    <p:anim calcmode="lin" valueType="num">
                                      <p:cBhvr>
                                        <p:cTn id="42" dur="500" fill="hold"/>
                                        <p:tgtEl>
                                          <p:spTgt spid="8194">
                                            <p:txEl>
                                              <p:pRg st="5" end="5"/>
                                            </p:txEl>
                                          </p:spTgt>
                                        </p:tgtEl>
                                        <p:attrNameLst>
                                          <p:attrName>ppt_y</p:attrName>
                                        </p:attrNameLst>
                                      </p:cBhvr>
                                      <p:tavLst>
                                        <p:tav tm="10000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additive="repl">
                                        <p:cTn id="46" dur="1" fill="hold">
                                          <p:stCondLst>
                                            <p:cond delay="0"/>
                                          </p:stCondLst>
                                        </p:cTn>
                                        <p:tgtEl>
                                          <p:spTgt spid="8194">
                                            <p:txEl>
                                              <p:pRg st="6" end="6"/>
                                            </p:txEl>
                                          </p:spTgt>
                                        </p:tgtEl>
                                        <p:attrNameLst>
                                          <p:attrName>style.visibility</p:attrName>
                                        </p:attrNameLst>
                                      </p:cBhvr>
                                      <p:to>
                                        <p:strVal val="visible"/>
                                      </p:to>
                                    </p:set>
                                    <p:anim calcmode="lin" valueType="num">
                                      <p:cBhvr>
                                        <p:cTn id="47" dur="500" fill="hold"/>
                                        <p:tgtEl>
                                          <p:spTgt spid="8194">
                                            <p:txEl>
                                              <p:pRg st="6" end="6"/>
                                            </p:txEl>
                                          </p:spTgt>
                                        </p:tgtEl>
                                        <p:attrNameLst>
                                          <p:attrName>ppt_x</p:attrName>
                                        </p:attrNameLst>
                                      </p:cBhvr>
                                      <p:tavLst>
                                        <p:tav tm="100000">
                                          <p:val>
                                            <p:strVal val="0-#ppt_w/2"/>
                                          </p:val>
                                        </p:tav>
                                        <p:tav tm="100000">
                                          <p:val>
                                            <p:strVal val="#ppt_x"/>
                                          </p:val>
                                        </p:tav>
                                      </p:tavLst>
                                    </p:anim>
                                    <p:anim calcmode="lin" valueType="num">
                                      <p:cBhvr>
                                        <p:cTn id="48" dur="500" fill="hold"/>
                                        <p:tgtEl>
                                          <p:spTgt spid="8194">
                                            <p:txEl>
                                              <p:pRg st="6" end="6"/>
                                            </p:txEl>
                                          </p:spTgt>
                                        </p:tgtEl>
                                        <p:attrNameLst>
                                          <p:attrName>ppt_y</p:attrName>
                                        </p:attrNameLst>
                                      </p:cBhvr>
                                      <p:tavLst>
                                        <p:tav tm="10000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nodeType="clickEffect">
                                  <p:stCondLst>
                                    <p:cond delay="0"/>
                                  </p:stCondLst>
                                  <p:childTnLst>
                                    <p:set>
                                      <p:cBhvr additive="repl">
                                        <p:cTn id="52" dur="1" fill="hold">
                                          <p:stCondLst>
                                            <p:cond delay="0"/>
                                          </p:stCondLst>
                                        </p:cTn>
                                        <p:tgtEl>
                                          <p:spTgt spid="8194">
                                            <p:txEl>
                                              <p:pRg st="7" end="7"/>
                                            </p:txEl>
                                          </p:spTgt>
                                        </p:tgtEl>
                                        <p:attrNameLst>
                                          <p:attrName>style.visibility</p:attrName>
                                        </p:attrNameLst>
                                      </p:cBhvr>
                                      <p:to>
                                        <p:strVal val="visible"/>
                                      </p:to>
                                    </p:set>
                                    <p:anim calcmode="lin" valueType="num">
                                      <p:cBhvr>
                                        <p:cTn id="53" dur="500" fill="hold"/>
                                        <p:tgtEl>
                                          <p:spTgt spid="8194">
                                            <p:txEl>
                                              <p:pRg st="7" end="7"/>
                                            </p:txEl>
                                          </p:spTgt>
                                        </p:tgtEl>
                                        <p:attrNameLst>
                                          <p:attrName>ppt_x</p:attrName>
                                        </p:attrNameLst>
                                      </p:cBhvr>
                                      <p:tavLst>
                                        <p:tav tm="100000">
                                          <p:val>
                                            <p:strVal val="0-#ppt_w/2"/>
                                          </p:val>
                                        </p:tav>
                                        <p:tav tm="100000">
                                          <p:val>
                                            <p:strVal val="#ppt_x"/>
                                          </p:val>
                                        </p:tav>
                                      </p:tavLst>
                                    </p:anim>
                                    <p:anim calcmode="lin" valueType="num">
                                      <p:cBhvr>
                                        <p:cTn id="54" dur="500" fill="hold"/>
                                        <p:tgtEl>
                                          <p:spTgt spid="8194">
                                            <p:txEl>
                                              <p:pRg st="7" end="7"/>
                                            </p:txEl>
                                          </p:spTgt>
                                        </p:tgtEl>
                                        <p:attrNameLst>
                                          <p:attrName>ppt_y</p:attrName>
                                        </p:attrNameLst>
                                      </p:cBhvr>
                                      <p:tavLst>
                                        <p:tav tm="10000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1"/>
          <p:cNvSpPr>
            <a:spLocks noGrp="1" noChangeArrowheads="1"/>
          </p:cNvSpPr>
          <p:nvPr>
            <p:ph type="title"/>
          </p:nvPr>
        </p:nvSpPr>
        <p:spPr>
          <a:xfrm>
            <a:off x="457200" y="104775"/>
            <a:ext cx="7543800" cy="1312863"/>
          </a:xfrm>
        </p:spPr>
        <p:txBody>
          <a:bodyPr>
            <a:normAutofit/>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600" dirty="0" smtClean="0"/>
              <a:t/>
            </a:r>
            <a:br>
              <a:rPr lang="en-US" sz="2600" dirty="0" smtClean="0"/>
            </a:br>
            <a:r>
              <a:rPr lang="en-US" sz="2600" dirty="0" smtClean="0"/>
              <a:t>   </a:t>
            </a:r>
            <a:r>
              <a:rPr lang="en-US" sz="2800" dirty="0" smtClean="0"/>
              <a:t> </a:t>
            </a:r>
            <a:r>
              <a:rPr lang="en-US" sz="2800" b="1" dirty="0" smtClean="0">
                <a:solidFill>
                  <a:schemeClr val="tx1">
                    <a:lumMod val="95000"/>
                    <a:lumOff val="5000"/>
                  </a:schemeClr>
                </a:solidFill>
              </a:rPr>
              <a:t>TRAINING&amp;DEVELOPMENT PROCESS</a:t>
            </a:r>
            <a:r>
              <a:rPr lang="en-US" sz="2600" dirty="0" smtClean="0"/>
              <a:t/>
            </a:r>
            <a:br>
              <a:rPr lang="en-US" sz="2600" dirty="0" smtClean="0"/>
            </a:br>
            <a:endParaRPr lang="en-US" sz="2600" dirty="0" smtClean="0"/>
          </a:p>
        </p:txBody>
      </p:sp>
      <p:sp>
        <p:nvSpPr>
          <p:cNvPr id="10242" name="Rectangle 2"/>
          <p:cNvSpPr>
            <a:spLocks noGrp="1" noChangeArrowheads="1"/>
          </p:cNvSpPr>
          <p:nvPr>
            <p:ph sz="quarter" idx="1"/>
          </p:nvPr>
        </p:nvSpPr>
        <p:spPr>
          <a:xfrm>
            <a:off x="457200" y="1719263"/>
            <a:ext cx="8229600" cy="4411662"/>
          </a:xfrm>
        </p:spPr>
        <p:txBody>
          <a:bodyPr>
            <a:normAutofit/>
          </a:bodyPr>
          <a:lstStyle/>
          <a:p>
            <a:pPr marL="341630" indent="-341630" eaLnBrk="1" hangingPunct="1">
              <a:lnSpc>
                <a:spcPct val="90000"/>
              </a:lnSpc>
              <a:spcBef>
                <a:spcPts val="600"/>
              </a:spcBef>
              <a:buClr>
                <a:srgbClr val="330066"/>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b="1" dirty="0" smtClean="0"/>
              <a:t>Step 1: Determining T&amp;D Needs </a:t>
            </a:r>
          </a:p>
          <a:p>
            <a:pPr marL="690880" lvl="1" indent="-347980" algn="just" eaLnBrk="1" hangingPunct="1">
              <a:lnSpc>
                <a:spcPct val="90000"/>
              </a:lnSpc>
              <a:spcBef>
                <a:spcPts val="600"/>
              </a:spcBef>
              <a:buClr>
                <a:srgbClr val="669999"/>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dirty="0" smtClean="0"/>
              <a:t>Organization Analysis-examines the entire organization to determine where T&amp;D should be conducted. </a:t>
            </a:r>
          </a:p>
          <a:p>
            <a:pPr marL="690880" lvl="1" indent="-347980" algn="just" eaLnBrk="1" hangingPunct="1">
              <a:lnSpc>
                <a:spcPct val="90000"/>
              </a:lnSpc>
              <a:spcBef>
                <a:spcPts val="600"/>
              </a:spcBef>
              <a:buClr>
                <a:srgbClr val="669999"/>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dirty="0" smtClean="0"/>
              <a:t>Task analysis-provides information on tasks, necessary skills, minimum acceptable standards, and behaviors required.</a:t>
            </a:r>
          </a:p>
          <a:p>
            <a:pPr marL="690880" lvl="1" indent="-347980" algn="just" eaLnBrk="1" hangingPunct="1">
              <a:lnSpc>
                <a:spcPct val="90000"/>
              </a:lnSpc>
              <a:spcBef>
                <a:spcPts val="600"/>
              </a:spcBef>
              <a:buClr>
                <a:srgbClr val="669999"/>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dirty="0" smtClean="0"/>
              <a:t>Person analysis-focuses on the individual employee in performance gap &amp; employee proficiency gap</a:t>
            </a:r>
            <a:r>
              <a:rPr lang="en-US" dirty="0" smtClean="0"/>
              <a:t>.</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additive="repl">
                                        <p:cTn id="6" dur="1" fill="hold">
                                          <p:stCondLst>
                                            <p:cond delay="0"/>
                                          </p:stCondLst>
                                        </p:cTn>
                                        <p:tgtEl>
                                          <p:spTgt spid="102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additive="repl">
                                        <p:cTn id="10" dur="1" fill="hold">
                                          <p:stCondLst>
                                            <p:cond delay="0"/>
                                          </p:stCondLst>
                                        </p:cTn>
                                        <p:tgtEl>
                                          <p:spTgt spid="10242">
                                            <p:txEl>
                                              <p:pRg st="0" end="0"/>
                                            </p:txEl>
                                          </p:spTgt>
                                        </p:tgtEl>
                                        <p:attrNameLst>
                                          <p:attrName>style.visibility</p:attrName>
                                        </p:attrNameLst>
                                      </p:cBhvr>
                                      <p:to>
                                        <p:strVal val="visible"/>
                                      </p:to>
                                    </p:set>
                                    <p:anim calcmode="lin" valueType="num">
                                      <p:cBhvr>
                                        <p:cTn id="11" dur="500" fill="hold"/>
                                        <p:tgtEl>
                                          <p:spTgt spid="10242">
                                            <p:txEl>
                                              <p:pRg st="0" end="0"/>
                                            </p:txEl>
                                          </p:spTgt>
                                        </p:tgtEl>
                                        <p:attrNameLst>
                                          <p:attrName>ppt_x</p:attrName>
                                        </p:attrNameLst>
                                      </p:cBhvr>
                                      <p:tavLst>
                                        <p:tav tm="100000">
                                          <p:val>
                                            <p:strVal val="0-#ppt_w/2"/>
                                          </p:val>
                                        </p:tav>
                                        <p:tav tm="100000">
                                          <p:val>
                                            <p:strVal val="#ppt_x"/>
                                          </p:val>
                                        </p:tav>
                                      </p:tavLst>
                                    </p:anim>
                                    <p:anim calcmode="lin" valueType="num">
                                      <p:cBhvr>
                                        <p:cTn id="12" dur="500" fill="hold"/>
                                        <p:tgtEl>
                                          <p:spTgt spid="10242">
                                            <p:txEl>
                                              <p:pRg st="0" end="0"/>
                                            </p:txEl>
                                          </p:spTgt>
                                        </p:tgtEl>
                                        <p:attrNameLst>
                                          <p:attrName>ppt_y</p:attrName>
                                        </p:attrNameLst>
                                      </p:cBhvr>
                                      <p:tavLst>
                                        <p:tav tm="100000">
                                          <p:val>
                                            <p:strVal val="#ppt_y"/>
                                          </p:val>
                                        </p:tav>
                                        <p:tav tm="100000">
                                          <p:val>
                                            <p:strVal val="#ppt_y"/>
                                          </p:val>
                                        </p:tav>
                                      </p:tavLst>
                                    </p:anim>
                                  </p:childTnLst>
                                </p:cTn>
                              </p:par>
                              <p:par>
                                <p:cTn id="13" presetID="2" presetClass="entr" presetSubtype="8" fill="hold" nodeType="withEffect">
                                  <p:stCondLst>
                                    <p:cond delay="0"/>
                                  </p:stCondLst>
                                  <p:childTnLst>
                                    <p:set>
                                      <p:cBhvr additive="repl">
                                        <p:cTn id="14" dur="1" fill="hold">
                                          <p:stCondLst>
                                            <p:cond delay="0"/>
                                          </p:stCondLst>
                                        </p:cTn>
                                        <p:tgtEl>
                                          <p:spTgt spid="10242">
                                            <p:txEl>
                                              <p:pRg st="1" end="1"/>
                                            </p:txEl>
                                          </p:spTgt>
                                        </p:tgtEl>
                                        <p:attrNameLst>
                                          <p:attrName>style.visibility</p:attrName>
                                        </p:attrNameLst>
                                      </p:cBhvr>
                                      <p:to>
                                        <p:strVal val="visible"/>
                                      </p:to>
                                    </p:set>
                                    <p:anim calcmode="lin" valueType="num">
                                      <p:cBhvr>
                                        <p:cTn id="15" dur="500" fill="hold"/>
                                        <p:tgtEl>
                                          <p:spTgt spid="10242">
                                            <p:txEl>
                                              <p:pRg st="1" end="1"/>
                                            </p:txEl>
                                          </p:spTgt>
                                        </p:tgtEl>
                                        <p:attrNameLst>
                                          <p:attrName>ppt_x</p:attrName>
                                        </p:attrNameLst>
                                      </p:cBhvr>
                                      <p:tavLst>
                                        <p:tav tm="100000">
                                          <p:val>
                                            <p:strVal val="0-#ppt_w/2"/>
                                          </p:val>
                                        </p:tav>
                                        <p:tav tm="100000">
                                          <p:val>
                                            <p:strVal val="#ppt_x"/>
                                          </p:val>
                                        </p:tav>
                                      </p:tavLst>
                                    </p:anim>
                                    <p:anim calcmode="lin" valueType="num">
                                      <p:cBhvr>
                                        <p:cTn id="16" dur="500" fill="hold"/>
                                        <p:tgtEl>
                                          <p:spTgt spid="10242">
                                            <p:txEl>
                                              <p:pRg st="1" end="1"/>
                                            </p:txEl>
                                          </p:spTgt>
                                        </p:tgtEl>
                                        <p:attrNameLst>
                                          <p:attrName>ppt_y</p:attrName>
                                        </p:attrNameLst>
                                      </p:cBhvr>
                                      <p:tavLst>
                                        <p:tav tm="100000">
                                          <p:val>
                                            <p:strVal val="#ppt_y"/>
                                          </p:val>
                                        </p:tav>
                                        <p:tav tm="100000">
                                          <p:val>
                                            <p:strVal val="#ppt_y"/>
                                          </p:val>
                                        </p:tav>
                                      </p:tavLst>
                                    </p:anim>
                                  </p:childTnLst>
                                </p:cTn>
                              </p:par>
                              <p:par>
                                <p:cTn id="17" presetID="2" presetClass="entr" presetSubtype="8" fill="hold" nodeType="withEffect">
                                  <p:stCondLst>
                                    <p:cond delay="0"/>
                                  </p:stCondLst>
                                  <p:childTnLst>
                                    <p:set>
                                      <p:cBhvr additive="repl">
                                        <p:cTn id="18" dur="1" fill="hold">
                                          <p:stCondLst>
                                            <p:cond delay="0"/>
                                          </p:stCondLst>
                                        </p:cTn>
                                        <p:tgtEl>
                                          <p:spTgt spid="10242">
                                            <p:txEl>
                                              <p:pRg st="2" end="2"/>
                                            </p:txEl>
                                          </p:spTgt>
                                        </p:tgtEl>
                                        <p:attrNameLst>
                                          <p:attrName>style.visibility</p:attrName>
                                        </p:attrNameLst>
                                      </p:cBhvr>
                                      <p:to>
                                        <p:strVal val="visible"/>
                                      </p:to>
                                    </p:set>
                                    <p:anim calcmode="lin" valueType="num">
                                      <p:cBhvr>
                                        <p:cTn id="19" dur="500" fill="hold"/>
                                        <p:tgtEl>
                                          <p:spTgt spid="10242">
                                            <p:txEl>
                                              <p:pRg st="2" end="2"/>
                                            </p:txEl>
                                          </p:spTgt>
                                        </p:tgtEl>
                                        <p:attrNameLst>
                                          <p:attrName>ppt_x</p:attrName>
                                        </p:attrNameLst>
                                      </p:cBhvr>
                                      <p:tavLst>
                                        <p:tav tm="100000">
                                          <p:val>
                                            <p:strVal val="0-#ppt_w/2"/>
                                          </p:val>
                                        </p:tav>
                                        <p:tav tm="100000">
                                          <p:val>
                                            <p:strVal val="#ppt_x"/>
                                          </p:val>
                                        </p:tav>
                                      </p:tavLst>
                                    </p:anim>
                                    <p:anim calcmode="lin" valueType="num">
                                      <p:cBhvr>
                                        <p:cTn id="20" dur="500" fill="hold"/>
                                        <p:tgtEl>
                                          <p:spTgt spid="10242">
                                            <p:txEl>
                                              <p:pRg st="2" end="2"/>
                                            </p:txEl>
                                          </p:spTgt>
                                        </p:tgtEl>
                                        <p:attrNameLst>
                                          <p:attrName>ppt_y</p:attrName>
                                        </p:attrNameLst>
                                      </p:cBhvr>
                                      <p:tavLst>
                                        <p:tav tm="100000">
                                          <p:val>
                                            <p:strVal val="#ppt_y"/>
                                          </p:val>
                                        </p:tav>
                                        <p:tav tm="100000">
                                          <p:val>
                                            <p:strVal val="#ppt_y"/>
                                          </p:val>
                                        </p:tav>
                                      </p:tavLst>
                                    </p:anim>
                                  </p:childTnLst>
                                </p:cTn>
                              </p:par>
                              <p:par>
                                <p:cTn id="21" presetID="2" presetClass="entr" presetSubtype="8" fill="hold" nodeType="withEffect">
                                  <p:stCondLst>
                                    <p:cond delay="0"/>
                                  </p:stCondLst>
                                  <p:childTnLst>
                                    <p:set>
                                      <p:cBhvr additive="repl">
                                        <p:cTn id="22" dur="1" fill="hold">
                                          <p:stCondLst>
                                            <p:cond delay="0"/>
                                          </p:stCondLst>
                                        </p:cTn>
                                        <p:tgtEl>
                                          <p:spTgt spid="10242">
                                            <p:txEl>
                                              <p:pRg st="3" end="3"/>
                                            </p:txEl>
                                          </p:spTgt>
                                        </p:tgtEl>
                                        <p:attrNameLst>
                                          <p:attrName>style.visibility</p:attrName>
                                        </p:attrNameLst>
                                      </p:cBhvr>
                                      <p:to>
                                        <p:strVal val="visible"/>
                                      </p:to>
                                    </p:set>
                                    <p:anim calcmode="lin" valueType="num">
                                      <p:cBhvr>
                                        <p:cTn id="23" dur="500" fill="hold"/>
                                        <p:tgtEl>
                                          <p:spTgt spid="10242">
                                            <p:txEl>
                                              <p:pRg st="3" end="3"/>
                                            </p:txEl>
                                          </p:spTgt>
                                        </p:tgtEl>
                                        <p:attrNameLst>
                                          <p:attrName>ppt_x</p:attrName>
                                        </p:attrNameLst>
                                      </p:cBhvr>
                                      <p:tavLst>
                                        <p:tav tm="100000">
                                          <p:val>
                                            <p:strVal val="0-#ppt_w/2"/>
                                          </p:val>
                                        </p:tav>
                                        <p:tav tm="100000">
                                          <p:val>
                                            <p:strVal val="#ppt_x"/>
                                          </p:val>
                                        </p:tav>
                                      </p:tavLst>
                                    </p:anim>
                                    <p:anim calcmode="lin" valueType="num">
                                      <p:cBhvr>
                                        <p:cTn id="24" dur="500" fill="hold"/>
                                        <p:tgtEl>
                                          <p:spTgt spid="10242">
                                            <p:txEl>
                                              <p:pRg st="3" end="3"/>
                                            </p:txEl>
                                          </p:spTgt>
                                        </p:tgtEl>
                                        <p:attrNameLst>
                                          <p:attrName>ppt_y</p:attrName>
                                        </p:attrNameLst>
                                      </p:cBhvr>
                                      <p:tavLst>
                                        <p:tav tm="10000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1"/>
          <p:cNvSpPr>
            <a:spLocks noGrp="1" noChangeArrowheads="1"/>
          </p:cNvSpPr>
          <p:nvPr>
            <p:ph type="title"/>
          </p:nvPr>
        </p:nvSpPr>
        <p:spPr>
          <a:xfrm>
            <a:off x="457200" y="457200"/>
            <a:ext cx="7543800" cy="228600"/>
          </a:xfrm>
        </p:spPr>
        <p:txBody>
          <a:bodyPr>
            <a:normAutofit fontScale="90000"/>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600" dirty="0" smtClean="0"/>
          </a:p>
        </p:txBody>
      </p:sp>
      <p:sp>
        <p:nvSpPr>
          <p:cNvPr id="11266" name="Rectangle 2"/>
          <p:cNvSpPr>
            <a:spLocks noGrp="1" noChangeArrowheads="1"/>
          </p:cNvSpPr>
          <p:nvPr>
            <p:ph sz="quarter" idx="1"/>
          </p:nvPr>
        </p:nvSpPr>
        <p:spPr>
          <a:xfrm>
            <a:off x="533400" y="762000"/>
            <a:ext cx="8229600" cy="5402263"/>
          </a:xfrm>
        </p:spPr>
        <p:txBody>
          <a:bodyPr/>
          <a:lstStyle/>
          <a:p>
            <a:pPr marL="341630" indent="-341630" eaLnBrk="1" hangingPunct="1">
              <a:lnSpc>
                <a:spcPct val="90000"/>
              </a:lnSpc>
              <a:spcBef>
                <a:spcPts val="600"/>
              </a:spcBef>
              <a:buClr>
                <a:srgbClr val="330066"/>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b="1" dirty="0" smtClean="0"/>
              <a:t>Step 2: Establishing T&amp;D Objectives</a:t>
            </a:r>
          </a:p>
          <a:p>
            <a:pPr marL="690880" lvl="1" indent="-347980" eaLnBrk="1" hangingPunct="1">
              <a:lnSpc>
                <a:spcPct val="90000"/>
              </a:lnSpc>
              <a:spcBef>
                <a:spcPts val="575"/>
              </a:spcBef>
              <a:buClr>
                <a:srgbClr val="669999"/>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dirty="0" smtClean="0"/>
              <a:t>To assist in designing meaningful T&amp;D programs.</a:t>
            </a:r>
          </a:p>
          <a:p>
            <a:pPr marL="690880" lvl="1" indent="-347980" eaLnBrk="1" hangingPunct="1">
              <a:lnSpc>
                <a:spcPct val="90000"/>
              </a:lnSpc>
              <a:spcBef>
                <a:spcPts val="575"/>
              </a:spcBef>
              <a:buClr>
                <a:srgbClr val="669999"/>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dirty="0" smtClean="0"/>
              <a:t>Evaluation of a program’s effectiveness would not be possible.</a:t>
            </a:r>
          </a:p>
          <a:p>
            <a:pPr marL="341630" indent="-341630" eaLnBrk="1" hangingPunct="1">
              <a:lnSpc>
                <a:spcPct val="90000"/>
              </a:lnSpc>
              <a:spcBef>
                <a:spcPts val="600"/>
              </a:spcBef>
              <a:buClr>
                <a:srgbClr val="330066"/>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dirty="0" smtClean="0"/>
              <a:t>Objectives can be of the following types:</a:t>
            </a:r>
          </a:p>
          <a:p>
            <a:pPr marL="690880" lvl="1" indent="-347980" eaLnBrk="1" hangingPunct="1">
              <a:lnSpc>
                <a:spcPct val="90000"/>
              </a:lnSpc>
              <a:spcBef>
                <a:spcPts val="575"/>
              </a:spcBef>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dirty="0" smtClean="0"/>
              <a:t>Regular training, which is on-going (Orientation, refresher courses)</a:t>
            </a:r>
          </a:p>
          <a:p>
            <a:pPr marL="690880" lvl="1" indent="-347980" eaLnBrk="1" hangingPunct="1">
              <a:lnSpc>
                <a:spcPct val="90000"/>
              </a:lnSpc>
              <a:spcBef>
                <a:spcPts val="575"/>
              </a:spcBef>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dirty="0" smtClean="0"/>
              <a:t>Problem-solving (training clerks to reduce complaints),</a:t>
            </a:r>
          </a:p>
          <a:p>
            <a:pPr marL="690880" lvl="1" indent="-347980" eaLnBrk="1" hangingPunct="1">
              <a:lnSpc>
                <a:spcPct val="90000"/>
              </a:lnSpc>
              <a:spcBef>
                <a:spcPts val="575"/>
              </a:spcBef>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dirty="0" smtClean="0"/>
              <a:t>Innovation or change-making, has a longer-range focus (anticipating problems)</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endCondLst>
                                    <p:cond delay="0"/>
                                  </p:endCondLst>
                                  <p:childTnLst>
                                    <p:set>
                                      <p:cBhvr additive="repl">
                                        <p:cTn id="6" dur="1" fill="hold">
                                          <p:stCondLst>
                                            <p:cond delay="0"/>
                                          </p:stCondLst>
                                        </p:cTn>
                                        <p:tgtEl>
                                          <p:spTgt spid="1126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additive="repl">
                                        <p:cTn id="10" dur="1" fill="hold">
                                          <p:stCondLst>
                                            <p:cond delay="0"/>
                                          </p:stCondLst>
                                        </p:cTn>
                                        <p:tgtEl>
                                          <p:spTgt spid="11266">
                                            <p:txEl>
                                              <p:pRg st="0" end="0"/>
                                            </p:txEl>
                                          </p:spTgt>
                                        </p:tgtEl>
                                        <p:attrNameLst>
                                          <p:attrName>style.visibility</p:attrName>
                                        </p:attrNameLst>
                                      </p:cBhvr>
                                      <p:to>
                                        <p:strVal val="visible"/>
                                      </p:to>
                                    </p:set>
                                    <p:anim calcmode="lin" valueType="num">
                                      <p:cBhvr>
                                        <p:cTn id="11" dur="500" fill="hold"/>
                                        <p:tgtEl>
                                          <p:spTgt spid="11266">
                                            <p:txEl>
                                              <p:pRg st="0" end="0"/>
                                            </p:txEl>
                                          </p:spTgt>
                                        </p:tgtEl>
                                        <p:attrNameLst>
                                          <p:attrName>ppt_x</p:attrName>
                                        </p:attrNameLst>
                                      </p:cBhvr>
                                      <p:tavLst>
                                        <p:tav tm="100000">
                                          <p:val>
                                            <p:strVal val="0-#ppt_w/2"/>
                                          </p:val>
                                        </p:tav>
                                        <p:tav tm="100000">
                                          <p:val>
                                            <p:strVal val="#ppt_x"/>
                                          </p:val>
                                        </p:tav>
                                      </p:tavLst>
                                    </p:anim>
                                    <p:anim calcmode="lin" valueType="num">
                                      <p:cBhvr>
                                        <p:cTn id="12" dur="500" fill="hold"/>
                                        <p:tgtEl>
                                          <p:spTgt spid="11266">
                                            <p:txEl>
                                              <p:pRg st="0" end="0"/>
                                            </p:txEl>
                                          </p:spTgt>
                                        </p:tgtEl>
                                        <p:attrNameLst>
                                          <p:attrName>ppt_y</p:attrName>
                                        </p:attrNameLst>
                                      </p:cBhvr>
                                      <p:tavLst>
                                        <p:tav tm="100000">
                                          <p:val>
                                            <p:strVal val="#ppt_y"/>
                                          </p:val>
                                        </p:tav>
                                        <p:tav tm="100000">
                                          <p:val>
                                            <p:strVal val="#ppt_y"/>
                                          </p:val>
                                        </p:tav>
                                      </p:tavLst>
                                    </p:anim>
                                  </p:childTnLst>
                                </p:cTn>
                              </p:par>
                              <p:par>
                                <p:cTn id="13" presetID="2" presetClass="entr" presetSubtype="8" fill="hold" nodeType="withEffect">
                                  <p:stCondLst>
                                    <p:cond delay="0"/>
                                  </p:stCondLst>
                                  <p:childTnLst>
                                    <p:set>
                                      <p:cBhvr additive="repl">
                                        <p:cTn id="14" dur="1" fill="hold">
                                          <p:stCondLst>
                                            <p:cond delay="0"/>
                                          </p:stCondLst>
                                        </p:cTn>
                                        <p:tgtEl>
                                          <p:spTgt spid="11266">
                                            <p:txEl>
                                              <p:pRg st="1" end="1"/>
                                            </p:txEl>
                                          </p:spTgt>
                                        </p:tgtEl>
                                        <p:attrNameLst>
                                          <p:attrName>style.visibility</p:attrName>
                                        </p:attrNameLst>
                                      </p:cBhvr>
                                      <p:to>
                                        <p:strVal val="visible"/>
                                      </p:to>
                                    </p:set>
                                    <p:anim calcmode="lin" valueType="num">
                                      <p:cBhvr>
                                        <p:cTn id="15" dur="500" fill="hold"/>
                                        <p:tgtEl>
                                          <p:spTgt spid="11266">
                                            <p:txEl>
                                              <p:pRg st="1" end="1"/>
                                            </p:txEl>
                                          </p:spTgt>
                                        </p:tgtEl>
                                        <p:attrNameLst>
                                          <p:attrName>ppt_x</p:attrName>
                                        </p:attrNameLst>
                                      </p:cBhvr>
                                      <p:tavLst>
                                        <p:tav tm="100000">
                                          <p:val>
                                            <p:strVal val="0-#ppt_w/2"/>
                                          </p:val>
                                        </p:tav>
                                        <p:tav tm="100000">
                                          <p:val>
                                            <p:strVal val="#ppt_x"/>
                                          </p:val>
                                        </p:tav>
                                      </p:tavLst>
                                    </p:anim>
                                    <p:anim calcmode="lin" valueType="num">
                                      <p:cBhvr>
                                        <p:cTn id="16" dur="500" fill="hold"/>
                                        <p:tgtEl>
                                          <p:spTgt spid="11266">
                                            <p:txEl>
                                              <p:pRg st="1" end="1"/>
                                            </p:txEl>
                                          </p:spTgt>
                                        </p:tgtEl>
                                        <p:attrNameLst>
                                          <p:attrName>ppt_y</p:attrName>
                                        </p:attrNameLst>
                                      </p:cBhvr>
                                      <p:tavLst>
                                        <p:tav tm="100000">
                                          <p:val>
                                            <p:strVal val="#ppt_y"/>
                                          </p:val>
                                        </p:tav>
                                        <p:tav tm="100000">
                                          <p:val>
                                            <p:strVal val="#ppt_y"/>
                                          </p:val>
                                        </p:tav>
                                      </p:tavLst>
                                    </p:anim>
                                  </p:childTnLst>
                                </p:cTn>
                              </p:par>
                              <p:par>
                                <p:cTn id="17" presetID="2" presetClass="entr" presetSubtype="8" fill="hold" nodeType="withEffect">
                                  <p:stCondLst>
                                    <p:cond delay="0"/>
                                  </p:stCondLst>
                                  <p:childTnLst>
                                    <p:set>
                                      <p:cBhvr additive="repl">
                                        <p:cTn id="18" dur="1" fill="hold">
                                          <p:stCondLst>
                                            <p:cond delay="0"/>
                                          </p:stCondLst>
                                        </p:cTn>
                                        <p:tgtEl>
                                          <p:spTgt spid="11266">
                                            <p:txEl>
                                              <p:pRg st="2" end="2"/>
                                            </p:txEl>
                                          </p:spTgt>
                                        </p:tgtEl>
                                        <p:attrNameLst>
                                          <p:attrName>style.visibility</p:attrName>
                                        </p:attrNameLst>
                                      </p:cBhvr>
                                      <p:to>
                                        <p:strVal val="visible"/>
                                      </p:to>
                                    </p:set>
                                    <p:anim calcmode="lin" valueType="num">
                                      <p:cBhvr>
                                        <p:cTn id="19" dur="500" fill="hold"/>
                                        <p:tgtEl>
                                          <p:spTgt spid="11266">
                                            <p:txEl>
                                              <p:pRg st="2" end="2"/>
                                            </p:txEl>
                                          </p:spTgt>
                                        </p:tgtEl>
                                        <p:attrNameLst>
                                          <p:attrName>ppt_x</p:attrName>
                                        </p:attrNameLst>
                                      </p:cBhvr>
                                      <p:tavLst>
                                        <p:tav tm="100000">
                                          <p:val>
                                            <p:strVal val="0-#ppt_w/2"/>
                                          </p:val>
                                        </p:tav>
                                        <p:tav tm="100000">
                                          <p:val>
                                            <p:strVal val="#ppt_x"/>
                                          </p:val>
                                        </p:tav>
                                      </p:tavLst>
                                    </p:anim>
                                    <p:anim calcmode="lin" valueType="num">
                                      <p:cBhvr>
                                        <p:cTn id="20" dur="500" fill="hold"/>
                                        <p:tgtEl>
                                          <p:spTgt spid="11266">
                                            <p:txEl>
                                              <p:pRg st="2" end="2"/>
                                            </p:txEl>
                                          </p:spTgt>
                                        </p:tgtEl>
                                        <p:attrNameLst>
                                          <p:attrName>ppt_y</p:attrName>
                                        </p:attrNameLst>
                                      </p:cBhvr>
                                      <p:tavLst>
                                        <p:tav tm="10000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additive="repl">
                                        <p:cTn id="24" dur="1" fill="hold">
                                          <p:stCondLst>
                                            <p:cond delay="0"/>
                                          </p:stCondLst>
                                        </p:cTn>
                                        <p:tgtEl>
                                          <p:spTgt spid="11266">
                                            <p:txEl>
                                              <p:pRg st="3" end="3"/>
                                            </p:txEl>
                                          </p:spTgt>
                                        </p:tgtEl>
                                        <p:attrNameLst>
                                          <p:attrName>style.visibility</p:attrName>
                                        </p:attrNameLst>
                                      </p:cBhvr>
                                      <p:to>
                                        <p:strVal val="visible"/>
                                      </p:to>
                                    </p:set>
                                    <p:anim calcmode="lin" valueType="num">
                                      <p:cBhvr>
                                        <p:cTn id="25" dur="500" fill="hold"/>
                                        <p:tgtEl>
                                          <p:spTgt spid="11266">
                                            <p:txEl>
                                              <p:pRg st="3" end="3"/>
                                            </p:txEl>
                                          </p:spTgt>
                                        </p:tgtEl>
                                        <p:attrNameLst>
                                          <p:attrName>ppt_x</p:attrName>
                                        </p:attrNameLst>
                                      </p:cBhvr>
                                      <p:tavLst>
                                        <p:tav tm="100000">
                                          <p:val>
                                            <p:strVal val="0-#ppt_w/2"/>
                                          </p:val>
                                        </p:tav>
                                        <p:tav tm="100000">
                                          <p:val>
                                            <p:strVal val="#ppt_x"/>
                                          </p:val>
                                        </p:tav>
                                      </p:tavLst>
                                    </p:anim>
                                    <p:anim calcmode="lin" valueType="num">
                                      <p:cBhvr>
                                        <p:cTn id="26" dur="500" fill="hold"/>
                                        <p:tgtEl>
                                          <p:spTgt spid="11266">
                                            <p:txEl>
                                              <p:pRg st="3" end="3"/>
                                            </p:txEl>
                                          </p:spTgt>
                                        </p:tgtEl>
                                        <p:attrNameLst>
                                          <p:attrName>ppt_y</p:attrName>
                                        </p:attrNameLst>
                                      </p:cBhvr>
                                      <p:tavLst>
                                        <p:tav tm="100000">
                                          <p:val>
                                            <p:strVal val="#ppt_y"/>
                                          </p:val>
                                        </p:tav>
                                        <p:tav tm="100000">
                                          <p:val>
                                            <p:strVal val="#ppt_y"/>
                                          </p:val>
                                        </p:tav>
                                      </p:tavLst>
                                    </p:anim>
                                  </p:childTnLst>
                                </p:cTn>
                              </p:par>
                              <p:par>
                                <p:cTn id="27" presetID="2" presetClass="entr" presetSubtype="8" fill="hold" nodeType="withEffect">
                                  <p:stCondLst>
                                    <p:cond delay="0"/>
                                  </p:stCondLst>
                                  <p:childTnLst>
                                    <p:set>
                                      <p:cBhvr additive="repl">
                                        <p:cTn id="28" dur="1" fill="hold">
                                          <p:stCondLst>
                                            <p:cond delay="0"/>
                                          </p:stCondLst>
                                        </p:cTn>
                                        <p:tgtEl>
                                          <p:spTgt spid="11266">
                                            <p:txEl>
                                              <p:pRg st="4" end="4"/>
                                            </p:txEl>
                                          </p:spTgt>
                                        </p:tgtEl>
                                        <p:attrNameLst>
                                          <p:attrName>style.visibility</p:attrName>
                                        </p:attrNameLst>
                                      </p:cBhvr>
                                      <p:to>
                                        <p:strVal val="visible"/>
                                      </p:to>
                                    </p:set>
                                    <p:anim calcmode="lin" valueType="num">
                                      <p:cBhvr>
                                        <p:cTn id="29" dur="500" fill="hold"/>
                                        <p:tgtEl>
                                          <p:spTgt spid="11266">
                                            <p:txEl>
                                              <p:pRg st="4" end="4"/>
                                            </p:txEl>
                                          </p:spTgt>
                                        </p:tgtEl>
                                        <p:attrNameLst>
                                          <p:attrName>ppt_x</p:attrName>
                                        </p:attrNameLst>
                                      </p:cBhvr>
                                      <p:tavLst>
                                        <p:tav tm="100000">
                                          <p:val>
                                            <p:strVal val="0-#ppt_w/2"/>
                                          </p:val>
                                        </p:tav>
                                        <p:tav tm="100000">
                                          <p:val>
                                            <p:strVal val="#ppt_x"/>
                                          </p:val>
                                        </p:tav>
                                      </p:tavLst>
                                    </p:anim>
                                    <p:anim calcmode="lin" valueType="num">
                                      <p:cBhvr>
                                        <p:cTn id="30" dur="500" fill="hold"/>
                                        <p:tgtEl>
                                          <p:spTgt spid="11266">
                                            <p:txEl>
                                              <p:pRg st="4" end="4"/>
                                            </p:txEl>
                                          </p:spTgt>
                                        </p:tgtEl>
                                        <p:attrNameLst>
                                          <p:attrName>ppt_y</p:attrName>
                                        </p:attrNameLst>
                                      </p:cBhvr>
                                      <p:tavLst>
                                        <p:tav tm="100000">
                                          <p:val>
                                            <p:strVal val="#ppt_y"/>
                                          </p:val>
                                        </p:tav>
                                        <p:tav tm="100000">
                                          <p:val>
                                            <p:strVal val="#ppt_y"/>
                                          </p:val>
                                        </p:tav>
                                      </p:tavLst>
                                    </p:anim>
                                  </p:childTnLst>
                                </p:cTn>
                              </p:par>
                              <p:par>
                                <p:cTn id="31" presetID="2" presetClass="entr" presetSubtype="8" fill="hold" nodeType="withEffect">
                                  <p:stCondLst>
                                    <p:cond delay="0"/>
                                  </p:stCondLst>
                                  <p:childTnLst>
                                    <p:set>
                                      <p:cBhvr additive="repl">
                                        <p:cTn id="32" dur="1" fill="hold">
                                          <p:stCondLst>
                                            <p:cond delay="0"/>
                                          </p:stCondLst>
                                        </p:cTn>
                                        <p:tgtEl>
                                          <p:spTgt spid="11266">
                                            <p:txEl>
                                              <p:pRg st="5" end="5"/>
                                            </p:txEl>
                                          </p:spTgt>
                                        </p:tgtEl>
                                        <p:attrNameLst>
                                          <p:attrName>style.visibility</p:attrName>
                                        </p:attrNameLst>
                                      </p:cBhvr>
                                      <p:to>
                                        <p:strVal val="visible"/>
                                      </p:to>
                                    </p:set>
                                    <p:anim calcmode="lin" valueType="num">
                                      <p:cBhvr>
                                        <p:cTn id="33" dur="500" fill="hold"/>
                                        <p:tgtEl>
                                          <p:spTgt spid="11266">
                                            <p:txEl>
                                              <p:pRg st="5" end="5"/>
                                            </p:txEl>
                                          </p:spTgt>
                                        </p:tgtEl>
                                        <p:attrNameLst>
                                          <p:attrName>ppt_x</p:attrName>
                                        </p:attrNameLst>
                                      </p:cBhvr>
                                      <p:tavLst>
                                        <p:tav tm="100000">
                                          <p:val>
                                            <p:strVal val="0-#ppt_w/2"/>
                                          </p:val>
                                        </p:tav>
                                        <p:tav tm="100000">
                                          <p:val>
                                            <p:strVal val="#ppt_x"/>
                                          </p:val>
                                        </p:tav>
                                      </p:tavLst>
                                    </p:anim>
                                    <p:anim calcmode="lin" valueType="num">
                                      <p:cBhvr>
                                        <p:cTn id="34" dur="500" fill="hold"/>
                                        <p:tgtEl>
                                          <p:spTgt spid="11266">
                                            <p:txEl>
                                              <p:pRg st="5" end="5"/>
                                            </p:txEl>
                                          </p:spTgt>
                                        </p:tgtEl>
                                        <p:attrNameLst>
                                          <p:attrName>ppt_y</p:attrName>
                                        </p:attrNameLst>
                                      </p:cBhvr>
                                      <p:tavLst>
                                        <p:tav tm="100000">
                                          <p:val>
                                            <p:strVal val="#ppt_y"/>
                                          </p:val>
                                        </p:tav>
                                        <p:tav tm="100000">
                                          <p:val>
                                            <p:strVal val="#ppt_y"/>
                                          </p:val>
                                        </p:tav>
                                      </p:tavLst>
                                    </p:anim>
                                  </p:childTnLst>
                                </p:cTn>
                              </p:par>
                              <p:par>
                                <p:cTn id="35" presetID="2" presetClass="entr" presetSubtype="8" fill="hold" nodeType="withEffect">
                                  <p:stCondLst>
                                    <p:cond delay="0"/>
                                  </p:stCondLst>
                                  <p:childTnLst>
                                    <p:set>
                                      <p:cBhvr additive="repl">
                                        <p:cTn id="36" dur="1" fill="hold">
                                          <p:stCondLst>
                                            <p:cond delay="0"/>
                                          </p:stCondLst>
                                        </p:cTn>
                                        <p:tgtEl>
                                          <p:spTgt spid="11266">
                                            <p:txEl>
                                              <p:pRg st="6" end="6"/>
                                            </p:txEl>
                                          </p:spTgt>
                                        </p:tgtEl>
                                        <p:attrNameLst>
                                          <p:attrName>style.visibility</p:attrName>
                                        </p:attrNameLst>
                                      </p:cBhvr>
                                      <p:to>
                                        <p:strVal val="visible"/>
                                      </p:to>
                                    </p:set>
                                    <p:anim calcmode="lin" valueType="num">
                                      <p:cBhvr>
                                        <p:cTn id="37" dur="500" fill="hold"/>
                                        <p:tgtEl>
                                          <p:spTgt spid="11266">
                                            <p:txEl>
                                              <p:pRg st="6" end="6"/>
                                            </p:txEl>
                                          </p:spTgt>
                                        </p:tgtEl>
                                        <p:attrNameLst>
                                          <p:attrName>ppt_x</p:attrName>
                                        </p:attrNameLst>
                                      </p:cBhvr>
                                      <p:tavLst>
                                        <p:tav tm="100000">
                                          <p:val>
                                            <p:strVal val="0-#ppt_w/2"/>
                                          </p:val>
                                        </p:tav>
                                        <p:tav tm="100000">
                                          <p:val>
                                            <p:strVal val="#ppt_x"/>
                                          </p:val>
                                        </p:tav>
                                      </p:tavLst>
                                    </p:anim>
                                    <p:anim calcmode="lin" valueType="num">
                                      <p:cBhvr>
                                        <p:cTn id="38" dur="500" fill="hold"/>
                                        <p:tgtEl>
                                          <p:spTgt spid="11266">
                                            <p:txEl>
                                              <p:pRg st="6" end="6"/>
                                            </p:txEl>
                                          </p:spTgt>
                                        </p:tgtEl>
                                        <p:attrNameLst>
                                          <p:attrName>ppt_y</p:attrName>
                                        </p:attrNameLst>
                                      </p:cBhvr>
                                      <p:tavLst>
                                        <p:tav tm="10000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1"/>
          <p:cNvSpPr>
            <a:spLocks noGrp="1" noChangeArrowheads="1"/>
          </p:cNvSpPr>
          <p:nvPr>
            <p:ph type="title"/>
          </p:nvPr>
        </p:nvSpPr>
        <p:spPr>
          <a:xfrm>
            <a:off x="457200" y="304800"/>
            <a:ext cx="7543800" cy="228600"/>
          </a:xfrm>
        </p:spPr>
        <p:txBody>
          <a:bodyPr>
            <a:normAutofit fontScale="90000"/>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600" smtClean="0"/>
          </a:p>
        </p:txBody>
      </p:sp>
      <p:sp>
        <p:nvSpPr>
          <p:cNvPr id="12290" name="Rectangle 2"/>
          <p:cNvSpPr>
            <a:spLocks noGrp="1" noChangeArrowheads="1"/>
          </p:cNvSpPr>
          <p:nvPr>
            <p:ph sz="quarter" idx="1"/>
          </p:nvPr>
        </p:nvSpPr>
        <p:spPr>
          <a:xfrm>
            <a:off x="457200" y="609600"/>
            <a:ext cx="8229600" cy="5521325"/>
          </a:xfrm>
        </p:spPr>
        <p:txBody>
          <a:bodyPr>
            <a:normAutofit lnSpcReduction="10000"/>
          </a:bodyPr>
          <a:lstStyle/>
          <a:p>
            <a:pPr marL="341630" indent="-341630" algn="just" eaLnBrk="1" hangingPunct="1">
              <a:lnSpc>
                <a:spcPct val="80000"/>
              </a:lnSpc>
              <a:spcBef>
                <a:spcPts val="500"/>
              </a:spcBef>
              <a:buClr>
                <a:srgbClr val="330066"/>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3200" b="1" dirty="0" smtClean="0"/>
              <a:t>Step 3: Choosing Training and Development Methods</a:t>
            </a:r>
          </a:p>
          <a:p>
            <a:pPr marL="690880" lvl="1" indent="-347980" eaLnBrk="1" hangingPunct="1">
              <a:lnSpc>
                <a:spcPct val="80000"/>
              </a:lnSpc>
              <a:spcBef>
                <a:spcPts val="450"/>
              </a:spcBef>
              <a:buClr>
                <a:srgbClr val="669999"/>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dirty="0" smtClean="0"/>
              <a:t>Coaching</a:t>
            </a:r>
          </a:p>
          <a:p>
            <a:pPr marL="690880" lvl="1" indent="-347980" eaLnBrk="1" hangingPunct="1">
              <a:lnSpc>
                <a:spcPct val="80000"/>
              </a:lnSpc>
              <a:spcBef>
                <a:spcPts val="450"/>
              </a:spcBef>
              <a:buClr>
                <a:srgbClr val="669999"/>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dirty="0" smtClean="0"/>
              <a:t>Mentoring</a:t>
            </a:r>
          </a:p>
          <a:p>
            <a:pPr marL="690880" lvl="1" indent="-347980" eaLnBrk="1" hangingPunct="1">
              <a:lnSpc>
                <a:spcPct val="80000"/>
              </a:lnSpc>
              <a:spcBef>
                <a:spcPts val="450"/>
              </a:spcBef>
              <a:buClr>
                <a:srgbClr val="669999"/>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dirty="0" smtClean="0"/>
              <a:t>Business Games</a:t>
            </a:r>
          </a:p>
          <a:p>
            <a:pPr marL="690880" lvl="1" indent="-347980" eaLnBrk="1" hangingPunct="1">
              <a:lnSpc>
                <a:spcPct val="80000"/>
              </a:lnSpc>
              <a:spcBef>
                <a:spcPts val="450"/>
              </a:spcBef>
              <a:buClr>
                <a:srgbClr val="669999"/>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dirty="0" smtClean="0"/>
              <a:t>Case Study</a:t>
            </a:r>
          </a:p>
          <a:p>
            <a:pPr marL="690880" lvl="1" indent="-347980" eaLnBrk="1" hangingPunct="1">
              <a:lnSpc>
                <a:spcPct val="80000"/>
              </a:lnSpc>
              <a:spcBef>
                <a:spcPts val="450"/>
              </a:spcBef>
              <a:buClr>
                <a:srgbClr val="669999"/>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dirty="0" smtClean="0"/>
              <a:t>Videotapes</a:t>
            </a:r>
          </a:p>
          <a:p>
            <a:pPr marL="690880" lvl="1" indent="-347980" eaLnBrk="1" hangingPunct="1">
              <a:lnSpc>
                <a:spcPct val="80000"/>
              </a:lnSpc>
              <a:spcBef>
                <a:spcPts val="450"/>
              </a:spcBef>
              <a:buClr>
                <a:srgbClr val="669999"/>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dirty="0" smtClean="0"/>
              <a:t>In-basket </a:t>
            </a:r>
          </a:p>
          <a:p>
            <a:pPr marL="690880" lvl="1" indent="-347980" eaLnBrk="1" hangingPunct="1">
              <a:lnSpc>
                <a:spcPct val="80000"/>
              </a:lnSpc>
              <a:spcBef>
                <a:spcPts val="450"/>
              </a:spcBef>
              <a:buClr>
                <a:srgbClr val="669999"/>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dirty="0" smtClean="0"/>
              <a:t>Internships</a:t>
            </a:r>
          </a:p>
          <a:p>
            <a:pPr marL="690880" lvl="1" indent="-347980" eaLnBrk="1" hangingPunct="1">
              <a:lnSpc>
                <a:spcPct val="80000"/>
              </a:lnSpc>
              <a:spcBef>
                <a:spcPts val="450"/>
              </a:spcBef>
              <a:buClr>
                <a:srgbClr val="669999"/>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dirty="0" smtClean="0"/>
              <a:t>Role Playing</a:t>
            </a:r>
          </a:p>
          <a:p>
            <a:pPr marL="690880" lvl="1" indent="-347980" eaLnBrk="1" hangingPunct="1">
              <a:lnSpc>
                <a:spcPct val="80000"/>
              </a:lnSpc>
              <a:spcBef>
                <a:spcPts val="450"/>
              </a:spcBef>
              <a:buClr>
                <a:srgbClr val="669999"/>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dirty="0" smtClean="0"/>
              <a:t>Job Rotation</a:t>
            </a:r>
          </a:p>
          <a:p>
            <a:pPr marL="690880" lvl="1" indent="-347980" eaLnBrk="1" hangingPunct="1">
              <a:lnSpc>
                <a:spcPct val="80000"/>
              </a:lnSpc>
              <a:spcBef>
                <a:spcPts val="450"/>
              </a:spcBef>
              <a:buClr>
                <a:srgbClr val="669999"/>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dirty="0" smtClean="0"/>
              <a:t>Apprenticeship</a:t>
            </a:r>
          </a:p>
          <a:p>
            <a:pPr marL="690880" lvl="1" indent="-347980" eaLnBrk="1" hangingPunct="1">
              <a:lnSpc>
                <a:spcPct val="80000"/>
              </a:lnSpc>
              <a:spcBef>
                <a:spcPts val="450"/>
              </a:spcBef>
              <a:buClr>
                <a:srgbClr val="669999"/>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dirty="0" smtClean="0"/>
              <a:t>Simulations </a:t>
            </a:r>
          </a:p>
          <a:p>
            <a:pPr marL="690880" lvl="1" indent="-347980" eaLnBrk="1" hangingPunct="1">
              <a:lnSpc>
                <a:spcPct val="80000"/>
              </a:lnSpc>
              <a:spcBef>
                <a:spcPts val="450"/>
              </a:spcBef>
              <a:buClr>
                <a:srgbClr val="669999"/>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dirty="0" smtClean="0"/>
              <a:t>Vestibule training</a:t>
            </a:r>
          </a:p>
          <a:p>
            <a:pPr marL="690880" lvl="1" indent="-347980" eaLnBrk="1" hangingPunct="1">
              <a:lnSpc>
                <a:spcPct val="80000"/>
              </a:lnSpc>
              <a:spcBef>
                <a:spcPts val="450"/>
              </a:spcBef>
              <a:buClr>
                <a:srgbClr val="669999"/>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800" dirty="0" smtClean="0"/>
              <a:t>Demonstration.</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endCondLst>
                                    <p:cond delay="0"/>
                                  </p:endCondLst>
                                  <p:childTnLst>
                                    <p:set>
                                      <p:cBhvr additive="repl">
                                        <p:cTn id="6" dur="1" fill="hold">
                                          <p:stCondLst>
                                            <p:cond delay="0"/>
                                          </p:stCondLst>
                                        </p:cTn>
                                        <p:tgtEl>
                                          <p:spTgt spid="122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additive="repl">
                                        <p:cTn id="10" dur="1" fill="hold">
                                          <p:stCondLst>
                                            <p:cond delay="0"/>
                                          </p:stCondLst>
                                        </p:cTn>
                                        <p:tgtEl>
                                          <p:spTgt spid="12290">
                                            <p:txEl>
                                              <p:pRg st="0" end="0"/>
                                            </p:txEl>
                                          </p:spTgt>
                                        </p:tgtEl>
                                        <p:attrNameLst>
                                          <p:attrName>style.visibility</p:attrName>
                                        </p:attrNameLst>
                                      </p:cBhvr>
                                      <p:to>
                                        <p:strVal val="visible"/>
                                      </p:to>
                                    </p:set>
                                    <p:anim calcmode="lin" valueType="num">
                                      <p:cBhvr>
                                        <p:cTn id="11" dur="500" fill="hold"/>
                                        <p:tgtEl>
                                          <p:spTgt spid="12290">
                                            <p:txEl>
                                              <p:pRg st="0" end="0"/>
                                            </p:txEl>
                                          </p:spTgt>
                                        </p:tgtEl>
                                        <p:attrNameLst>
                                          <p:attrName>ppt_x</p:attrName>
                                        </p:attrNameLst>
                                      </p:cBhvr>
                                      <p:tavLst>
                                        <p:tav tm="100000">
                                          <p:val>
                                            <p:strVal val="0-#ppt_w/2"/>
                                          </p:val>
                                        </p:tav>
                                        <p:tav tm="100000">
                                          <p:val>
                                            <p:strVal val="#ppt_x"/>
                                          </p:val>
                                        </p:tav>
                                      </p:tavLst>
                                    </p:anim>
                                    <p:anim calcmode="lin" valueType="num">
                                      <p:cBhvr>
                                        <p:cTn id="12" dur="500" fill="hold"/>
                                        <p:tgtEl>
                                          <p:spTgt spid="12290">
                                            <p:txEl>
                                              <p:pRg st="0" end="0"/>
                                            </p:txEl>
                                          </p:spTgt>
                                        </p:tgtEl>
                                        <p:attrNameLst>
                                          <p:attrName>ppt_y</p:attrName>
                                        </p:attrNameLst>
                                      </p:cBhvr>
                                      <p:tavLst>
                                        <p:tav tm="100000">
                                          <p:val>
                                            <p:strVal val="#ppt_y"/>
                                          </p:val>
                                        </p:tav>
                                        <p:tav tm="100000">
                                          <p:val>
                                            <p:strVal val="#ppt_y"/>
                                          </p:val>
                                        </p:tav>
                                      </p:tavLst>
                                    </p:anim>
                                  </p:childTnLst>
                                </p:cTn>
                              </p:par>
                              <p:par>
                                <p:cTn id="13" presetID="2" presetClass="entr" presetSubtype="8" fill="hold" nodeType="withEffect">
                                  <p:stCondLst>
                                    <p:cond delay="0"/>
                                  </p:stCondLst>
                                  <p:childTnLst>
                                    <p:set>
                                      <p:cBhvr additive="repl">
                                        <p:cTn id="14" dur="1" fill="hold">
                                          <p:stCondLst>
                                            <p:cond delay="0"/>
                                          </p:stCondLst>
                                        </p:cTn>
                                        <p:tgtEl>
                                          <p:spTgt spid="12290">
                                            <p:txEl>
                                              <p:pRg st="1" end="1"/>
                                            </p:txEl>
                                          </p:spTgt>
                                        </p:tgtEl>
                                        <p:attrNameLst>
                                          <p:attrName>style.visibility</p:attrName>
                                        </p:attrNameLst>
                                      </p:cBhvr>
                                      <p:to>
                                        <p:strVal val="visible"/>
                                      </p:to>
                                    </p:set>
                                    <p:anim calcmode="lin" valueType="num">
                                      <p:cBhvr>
                                        <p:cTn id="15" dur="500" fill="hold"/>
                                        <p:tgtEl>
                                          <p:spTgt spid="12290">
                                            <p:txEl>
                                              <p:pRg st="1" end="1"/>
                                            </p:txEl>
                                          </p:spTgt>
                                        </p:tgtEl>
                                        <p:attrNameLst>
                                          <p:attrName>ppt_x</p:attrName>
                                        </p:attrNameLst>
                                      </p:cBhvr>
                                      <p:tavLst>
                                        <p:tav tm="100000">
                                          <p:val>
                                            <p:strVal val="0-#ppt_w/2"/>
                                          </p:val>
                                        </p:tav>
                                        <p:tav tm="100000">
                                          <p:val>
                                            <p:strVal val="#ppt_x"/>
                                          </p:val>
                                        </p:tav>
                                      </p:tavLst>
                                    </p:anim>
                                    <p:anim calcmode="lin" valueType="num">
                                      <p:cBhvr>
                                        <p:cTn id="16" dur="500" fill="hold"/>
                                        <p:tgtEl>
                                          <p:spTgt spid="12290">
                                            <p:txEl>
                                              <p:pRg st="1" end="1"/>
                                            </p:txEl>
                                          </p:spTgt>
                                        </p:tgtEl>
                                        <p:attrNameLst>
                                          <p:attrName>ppt_y</p:attrName>
                                        </p:attrNameLst>
                                      </p:cBhvr>
                                      <p:tavLst>
                                        <p:tav tm="100000">
                                          <p:val>
                                            <p:strVal val="#ppt_y"/>
                                          </p:val>
                                        </p:tav>
                                        <p:tav tm="100000">
                                          <p:val>
                                            <p:strVal val="#ppt_y"/>
                                          </p:val>
                                        </p:tav>
                                      </p:tavLst>
                                    </p:anim>
                                  </p:childTnLst>
                                </p:cTn>
                              </p:par>
                              <p:par>
                                <p:cTn id="17" presetID="2" presetClass="entr" presetSubtype="8" fill="hold" nodeType="withEffect">
                                  <p:stCondLst>
                                    <p:cond delay="0"/>
                                  </p:stCondLst>
                                  <p:childTnLst>
                                    <p:set>
                                      <p:cBhvr additive="repl">
                                        <p:cTn id="18" dur="1" fill="hold">
                                          <p:stCondLst>
                                            <p:cond delay="0"/>
                                          </p:stCondLst>
                                        </p:cTn>
                                        <p:tgtEl>
                                          <p:spTgt spid="12290">
                                            <p:txEl>
                                              <p:pRg st="2" end="2"/>
                                            </p:txEl>
                                          </p:spTgt>
                                        </p:tgtEl>
                                        <p:attrNameLst>
                                          <p:attrName>style.visibility</p:attrName>
                                        </p:attrNameLst>
                                      </p:cBhvr>
                                      <p:to>
                                        <p:strVal val="visible"/>
                                      </p:to>
                                    </p:set>
                                    <p:anim calcmode="lin" valueType="num">
                                      <p:cBhvr>
                                        <p:cTn id="19" dur="500" fill="hold"/>
                                        <p:tgtEl>
                                          <p:spTgt spid="12290">
                                            <p:txEl>
                                              <p:pRg st="2" end="2"/>
                                            </p:txEl>
                                          </p:spTgt>
                                        </p:tgtEl>
                                        <p:attrNameLst>
                                          <p:attrName>ppt_x</p:attrName>
                                        </p:attrNameLst>
                                      </p:cBhvr>
                                      <p:tavLst>
                                        <p:tav tm="100000">
                                          <p:val>
                                            <p:strVal val="0-#ppt_w/2"/>
                                          </p:val>
                                        </p:tav>
                                        <p:tav tm="100000">
                                          <p:val>
                                            <p:strVal val="#ppt_x"/>
                                          </p:val>
                                        </p:tav>
                                      </p:tavLst>
                                    </p:anim>
                                    <p:anim calcmode="lin" valueType="num">
                                      <p:cBhvr>
                                        <p:cTn id="20" dur="500" fill="hold"/>
                                        <p:tgtEl>
                                          <p:spTgt spid="12290">
                                            <p:txEl>
                                              <p:pRg st="2" end="2"/>
                                            </p:txEl>
                                          </p:spTgt>
                                        </p:tgtEl>
                                        <p:attrNameLst>
                                          <p:attrName>ppt_y</p:attrName>
                                        </p:attrNameLst>
                                      </p:cBhvr>
                                      <p:tavLst>
                                        <p:tav tm="100000">
                                          <p:val>
                                            <p:strVal val="#ppt_y"/>
                                          </p:val>
                                        </p:tav>
                                        <p:tav tm="100000">
                                          <p:val>
                                            <p:strVal val="#ppt_y"/>
                                          </p:val>
                                        </p:tav>
                                      </p:tavLst>
                                    </p:anim>
                                  </p:childTnLst>
                                </p:cTn>
                              </p:par>
                              <p:par>
                                <p:cTn id="21" presetID="2" presetClass="entr" presetSubtype="8" fill="hold" nodeType="withEffect">
                                  <p:stCondLst>
                                    <p:cond delay="0"/>
                                  </p:stCondLst>
                                  <p:childTnLst>
                                    <p:set>
                                      <p:cBhvr additive="repl">
                                        <p:cTn id="22" dur="1" fill="hold">
                                          <p:stCondLst>
                                            <p:cond delay="0"/>
                                          </p:stCondLst>
                                        </p:cTn>
                                        <p:tgtEl>
                                          <p:spTgt spid="12290">
                                            <p:txEl>
                                              <p:pRg st="3" end="3"/>
                                            </p:txEl>
                                          </p:spTgt>
                                        </p:tgtEl>
                                        <p:attrNameLst>
                                          <p:attrName>style.visibility</p:attrName>
                                        </p:attrNameLst>
                                      </p:cBhvr>
                                      <p:to>
                                        <p:strVal val="visible"/>
                                      </p:to>
                                    </p:set>
                                    <p:anim calcmode="lin" valueType="num">
                                      <p:cBhvr>
                                        <p:cTn id="23" dur="500" fill="hold"/>
                                        <p:tgtEl>
                                          <p:spTgt spid="12290">
                                            <p:txEl>
                                              <p:pRg st="3" end="3"/>
                                            </p:txEl>
                                          </p:spTgt>
                                        </p:tgtEl>
                                        <p:attrNameLst>
                                          <p:attrName>ppt_x</p:attrName>
                                        </p:attrNameLst>
                                      </p:cBhvr>
                                      <p:tavLst>
                                        <p:tav tm="100000">
                                          <p:val>
                                            <p:strVal val="0-#ppt_w/2"/>
                                          </p:val>
                                        </p:tav>
                                        <p:tav tm="100000">
                                          <p:val>
                                            <p:strVal val="#ppt_x"/>
                                          </p:val>
                                        </p:tav>
                                      </p:tavLst>
                                    </p:anim>
                                    <p:anim calcmode="lin" valueType="num">
                                      <p:cBhvr>
                                        <p:cTn id="24" dur="500" fill="hold"/>
                                        <p:tgtEl>
                                          <p:spTgt spid="12290">
                                            <p:txEl>
                                              <p:pRg st="3" end="3"/>
                                            </p:txEl>
                                          </p:spTgt>
                                        </p:tgtEl>
                                        <p:attrNameLst>
                                          <p:attrName>ppt_y</p:attrName>
                                        </p:attrNameLst>
                                      </p:cBhvr>
                                      <p:tavLst>
                                        <p:tav tm="100000">
                                          <p:val>
                                            <p:strVal val="#ppt_y"/>
                                          </p:val>
                                        </p:tav>
                                        <p:tav tm="100000">
                                          <p:val>
                                            <p:strVal val="#ppt_y"/>
                                          </p:val>
                                        </p:tav>
                                      </p:tavLst>
                                    </p:anim>
                                  </p:childTnLst>
                                </p:cTn>
                              </p:par>
                              <p:par>
                                <p:cTn id="25" presetID="2" presetClass="entr" presetSubtype="8" fill="hold" nodeType="withEffect">
                                  <p:stCondLst>
                                    <p:cond delay="0"/>
                                  </p:stCondLst>
                                  <p:childTnLst>
                                    <p:set>
                                      <p:cBhvr additive="repl">
                                        <p:cTn id="26" dur="1" fill="hold">
                                          <p:stCondLst>
                                            <p:cond delay="0"/>
                                          </p:stCondLst>
                                        </p:cTn>
                                        <p:tgtEl>
                                          <p:spTgt spid="12290">
                                            <p:txEl>
                                              <p:pRg st="4" end="4"/>
                                            </p:txEl>
                                          </p:spTgt>
                                        </p:tgtEl>
                                        <p:attrNameLst>
                                          <p:attrName>style.visibility</p:attrName>
                                        </p:attrNameLst>
                                      </p:cBhvr>
                                      <p:to>
                                        <p:strVal val="visible"/>
                                      </p:to>
                                    </p:set>
                                    <p:anim calcmode="lin" valueType="num">
                                      <p:cBhvr>
                                        <p:cTn id="27" dur="500" fill="hold"/>
                                        <p:tgtEl>
                                          <p:spTgt spid="12290">
                                            <p:txEl>
                                              <p:pRg st="4" end="4"/>
                                            </p:txEl>
                                          </p:spTgt>
                                        </p:tgtEl>
                                        <p:attrNameLst>
                                          <p:attrName>ppt_x</p:attrName>
                                        </p:attrNameLst>
                                      </p:cBhvr>
                                      <p:tavLst>
                                        <p:tav tm="100000">
                                          <p:val>
                                            <p:strVal val="0-#ppt_w/2"/>
                                          </p:val>
                                        </p:tav>
                                        <p:tav tm="100000">
                                          <p:val>
                                            <p:strVal val="#ppt_x"/>
                                          </p:val>
                                        </p:tav>
                                      </p:tavLst>
                                    </p:anim>
                                    <p:anim calcmode="lin" valueType="num">
                                      <p:cBhvr>
                                        <p:cTn id="28" dur="500" fill="hold"/>
                                        <p:tgtEl>
                                          <p:spTgt spid="12290">
                                            <p:txEl>
                                              <p:pRg st="4" end="4"/>
                                            </p:txEl>
                                          </p:spTgt>
                                        </p:tgtEl>
                                        <p:attrNameLst>
                                          <p:attrName>ppt_y</p:attrName>
                                        </p:attrNameLst>
                                      </p:cBhvr>
                                      <p:tavLst>
                                        <p:tav tm="100000">
                                          <p:val>
                                            <p:strVal val="#ppt_y"/>
                                          </p:val>
                                        </p:tav>
                                        <p:tav tm="100000">
                                          <p:val>
                                            <p:strVal val="#ppt_y"/>
                                          </p:val>
                                        </p:tav>
                                      </p:tavLst>
                                    </p:anim>
                                  </p:childTnLst>
                                </p:cTn>
                              </p:par>
                              <p:par>
                                <p:cTn id="29" presetID="2" presetClass="entr" presetSubtype="8" fill="hold" nodeType="withEffect">
                                  <p:stCondLst>
                                    <p:cond delay="0"/>
                                  </p:stCondLst>
                                  <p:childTnLst>
                                    <p:set>
                                      <p:cBhvr additive="repl">
                                        <p:cTn id="30" dur="1" fill="hold">
                                          <p:stCondLst>
                                            <p:cond delay="0"/>
                                          </p:stCondLst>
                                        </p:cTn>
                                        <p:tgtEl>
                                          <p:spTgt spid="12290">
                                            <p:txEl>
                                              <p:pRg st="5" end="5"/>
                                            </p:txEl>
                                          </p:spTgt>
                                        </p:tgtEl>
                                        <p:attrNameLst>
                                          <p:attrName>style.visibility</p:attrName>
                                        </p:attrNameLst>
                                      </p:cBhvr>
                                      <p:to>
                                        <p:strVal val="visible"/>
                                      </p:to>
                                    </p:set>
                                    <p:anim calcmode="lin" valueType="num">
                                      <p:cBhvr>
                                        <p:cTn id="31" dur="500" fill="hold"/>
                                        <p:tgtEl>
                                          <p:spTgt spid="12290">
                                            <p:txEl>
                                              <p:pRg st="5" end="5"/>
                                            </p:txEl>
                                          </p:spTgt>
                                        </p:tgtEl>
                                        <p:attrNameLst>
                                          <p:attrName>ppt_x</p:attrName>
                                        </p:attrNameLst>
                                      </p:cBhvr>
                                      <p:tavLst>
                                        <p:tav tm="100000">
                                          <p:val>
                                            <p:strVal val="0-#ppt_w/2"/>
                                          </p:val>
                                        </p:tav>
                                        <p:tav tm="100000">
                                          <p:val>
                                            <p:strVal val="#ppt_x"/>
                                          </p:val>
                                        </p:tav>
                                      </p:tavLst>
                                    </p:anim>
                                    <p:anim calcmode="lin" valueType="num">
                                      <p:cBhvr>
                                        <p:cTn id="32" dur="500" fill="hold"/>
                                        <p:tgtEl>
                                          <p:spTgt spid="12290">
                                            <p:txEl>
                                              <p:pRg st="5" end="5"/>
                                            </p:txEl>
                                          </p:spTgt>
                                        </p:tgtEl>
                                        <p:attrNameLst>
                                          <p:attrName>ppt_y</p:attrName>
                                        </p:attrNameLst>
                                      </p:cBhvr>
                                      <p:tavLst>
                                        <p:tav tm="100000">
                                          <p:val>
                                            <p:strVal val="#ppt_y"/>
                                          </p:val>
                                        </p:tav>
                                        <p:tav tm="100000">
                                          <p:val>
                                            <p:strVal val="#ppt_y"/>
                                          </p:val>
                                        </p:tav>
                                      </p:tavLst>
                                    </p:anim>
                                  </p:childTnLst>
                                </p:cTn>
                              </p:par>
                              <p:par>
                                <p:cTn id="33" presetID="2" presetClass="entr" presetSubtype="8" fill="hold" nodeType="withEffect">
                                  <p:stCondLst>
                                    <p:cond delay="0"/>
                                  </p:stCondLst>
                                  <p:childTnLst>
                                    <p:set>
                                      <p:cBhvr additive="repl">
                                        <p:cTn id="34" dur="1" fill="hold">
                                          <p:stCondLst>
                                            <p:cond delay="0"/>
                                          </p:stCondLst>
                                        </p:cTn>
                                        <p:tgtEl>
                                          <p:spTgt spid="12290">
                                            <p:txEl>
                                              <p:pRg st="6" end="6"/>
                                            </p:txEl>
                                          </p:spTgt>
                                        </p:tgtEl>
                                        <p:attrNameLst>
                                          <p:attrName>style.visibility</p:attrName>
                                        </p:attrNameLst>
                                      </p:cBhvr>
                                      <p:to>
                                        <p:strVal val="visible"/>
                                      </p:to>
                                    </p:set>
                                    <p:anim calcmode="lin" valueType="num">
                                      <p:cBhvr>
                                        <p:cTn id="35" dur="500" fill="hold"/>
                                        <p:tgtEl>
                                          <p:spTgt spid="12290">
                                            <p:txEl>
                                              <p:pRg st="6" end="6"/>
                                            </p:txEl>
                                          </p:spTgt>
                                        </p:tgtEl>
                                        <p:attrNameLst>
                                          <p:attrName>ppt_x</p:attrName>
                                        </p:attrNameLst>
                                      </p:cBhvr>
                                      <p:tavLst>
                                        <p:tav tm="100000">
                                          <p:val>
                                            <p:strVal val="0-#ppt_w/2"/>
                                          </p:val>
                                        </p:tav>
                                        <p:tav tm="100000">
                                          <p:val>
                                            <p:strVal val="#ppt_x"/>
                                          </p:val>
                                        </p:tav>
                                      </p:tavLst>
                                    </p:anim>
                                    <p:anim calcmode="lin" valueType="num">
                                      <p:cBhvr>
                                        <p:cTn id="36" dur="500" fill="hold"/>
                                        <p:tgtEl>
                                          <p:spTgt spid="12290">
                                            <p:txEl>
                                              <p:pRg st="6" end="6"/>
                                            </p:txEl>
                                          </p:spTgt>
                                        </p:tgtEl>
                                        <p:attrNameLst>
                                          <p:attrName>ppt_y</p:attrName>
                                        </p:attrNameLst>
                                      </p:cBhvr>
                                      <p:tavLst>
                                        <p:tav tm="100000">
                                          <p:val>
                                            <p:strVal val="#ppt_y"/>
                                          </p:val>
                                        </p:tav>
                                        <p:tav tm="100000">
                                          <p:val>
                                            <p:strVal val="#ppt_y"/>
                                          </p:val>
                                        </p:tav>
                                      </p:tavLst>
                                    </p:anim>
                                  </p:childTnLst>
                                </p:cTn>
                              </p:par>
                              <p:par>
                                <p:cTn id="37" presetID="2" presetClass="entr" presetSubtype="8" fill="hold" nodeType="withEffect">
                                  <p:stCondLst>
                                    <p:cond delay="0"/>
                                  </p:stCondLst>
                                  <p:childTnLst>
                                    <p:set>
                                      <p:cBhvr additive="repl">
                                        <p:cTn id="38" dur="1" fill="hold">
                                          <p:stCondLst>
                                            <p:cond delay="0"/>
                                          </p:stCondLst>
                                        </p:cTn>
                                        <p:tgtEl>
                                          <p:spTgt spid="12290">
                                            <p:txEl>
                                              <p:pRg st="7" end="7"/>
                                            </p:txEl>
                                          </p:spTgt>
                                        </p:tgtEl>
                                        <p:attrNameLst>
                                          <p:attrName>style.visibility</p:attrName>
                                        </p:attrNameLst>
                                      </p:cBhvr>
                                      <p:to>
                                        <p:strVal val="visible"/>
                                      </p:to>
                                    </p:set>
                                    <p:anim calcmode="lin" valueType="num">
                                      <p:cBhvr>
                                        <p:cTn id="39" dur="500" fill="hold"/>
                                        <p:tgtEl>
                                          <p:spTgt spid="12290">
                                            <p:txEl>
                                              <p:pRg st="7" end="7"/>
                                            </p:txEl>
                                          </p:spTgt>
                                        </p:tgtEl>
                                        <p:attrNameLst>
                                          <p:attrName>ppt_x</p:attrName>
                                        </p:attrNameLst>
                                      </p:cBhvr>
                                      <p:tavLst>
                                        <p:tav tm="100000">
                                          <p:val>
                                            <p:strVal val="0-#ppt_w/2"/>
                                          </p:val>
                                        </p:tav>
                                        <p:tav tm="100000">
                                          <p:val>
                                            <p:strVal val="#ppt_x"/>
                                          </p:val>
                                        </p:tav>
                                      </p:tavLst>
                                    </p:anim>
                                    <p:anim calcmode="lin" valueType="num">
                                      <p:cBhvr>
                                        <p:cTn id="40" dur="500" fill="hold"/>
                                        <p:tgtEl>
                                          <p:spTgt spid="12290">
                                            <p:txEl>
                                              <p:pRg st="7" end="7"/>
                                            </p:txEl>
                                          </p:spTgt>
                                        </p:tgtEl>
                                        <p:attrNameLst>
                                          <p:attrName>ppt_y</p:attrName>
                                        </p:attrNameLst>
                                      </p:cBhvr>
                                      <p:tavLst>
                                        <p:tav tm="100000">
                                          <p:val>
                                            <p:strVal val="#ppt_y"/>
                                          </p:val>
                                        </p:tav>
                                        <p:tav tm="100000">
                                          <p:val>
                                            <p:strVal val="#ppt_y"/>
                                          </p:val>
                                        </p:tav>
                                      </p:tavLst>
                                    </p:anim>
                                  </p:childTnLst>
                                </p:cTn>
                              </p:par>
                              <p:par>
                                <p:cTn id="41" presetID="2" presetClass="entr" presetSubtype="8" fill="hold" nodeType="withEffect">
                                  <p:stCondLst>
                                    <p:cond delay="0"/>
                                  </p:stCondLst>
                                  <p:childTnLst>
                                    <p:set>
                                      <p:cBhvr additive="repl">
                                        <p:cTn id="42" dur="1" fill="hold">
                                          <p:stCondLst>
                                            <p:cond delay="0"/>
                                          </p:stCondLst>
                                        </p:cTn>
                                        <p:tgtEl>
                                          <p:spTgt spid="12290">
                                            <p:txEl>
                                              <p:pRg st="8" end="8"/>
                                            </p:txEl>
                                          </p:spTgt>
                                        </p:tgtEl>
                                        <p:attrNameLst>
                                          <p:attrName>style.visibility</p:attrName>
                                        </p:attrNameLst>
                                      </p:cBhvr>
                                      <p:to>
                                        <p:strVal val="visible"/>
                                      </p:to>
                                    </p:set>
                                    <p:anim calcmode="lin" valueType="num">
                                      <p:cBhvr>
                                        <p:cTn id="43" dur="500" fill="hold"/>
                                        <p:tgtEl>
                                          <p:spTgt spid="12290">
                                            <p:txEl>
                                              <p:pRg st="8" end="8"/>
                                            </p:txEl>
                                          </p:spTgt>
                                        </p:tgtEl>
                                        <p:attrNameLst>
                                          <p:attrName>ppt_x</p:attrName>
                                        </p:attrNameLst>
                                      </p:cBhvr>
                                      <p:tavLst>
                                        <p:tav tm="100000">
                                          <p:val>
                                            <p:strVal val="0-#ppt_w/2"/>
                                          </p:val>
                                        </p:tav>
                                        <p:tav tm="100000">
                                          <p:val>
                                            <p:strVal val="#ppt_x"/>
                                          </p:val>
                                        </p:tav>
                                      </p:tavLst>
                                    </p:anim>
                                    <p:anim calcmode="lin" valueType="num">
                                      <p:cBhvr>
                                        <p:cTn id="44" dur="500" fill="hold"/>
                                        <p:tgtEl>
                                          <p:spTgt spid="12290">
                                            <p:txEl>
                                              <p:pRg st="8" end="8"/>
                                            </p:txEl>
                                          </p:spTgt>
                                        </p:tgtEl>
                                        <p:attrNameLst>
                                          <p:attrName>ppt_y</p:attrName>
                                        </p:attrNameLst>
                                      </p:cBhvr>
                                      <p:tavLst>
                                        <p:tav tm="100000">
                                          <p:val>
                                            <p:strVal val="#ppt_y"/>
                                          </p:val>
                                        </p:tav>
                                        <p:tav tm="100000">
                                          <p:val>
                                            <p:strVal val="#ppt_y"/>
                                          </p:val>
                                        </p:tav>
                                      </p:tavLst>
                                    </p:anim>
                                  </p:childTnLst>
                                </p:cTn>
                              </p:par>
                              <p:par>
                                <p:cTn id="45" presetID="2" presetClass="entr" presetSubtype="8" fill="hold" nodeType="withEffect">
                                  <p:stCondLst>
                                    <p:cond delay="0"/>
                                  </p:stCondLst>
                                  <p:childTnLst>
                                    <p:set>
                                      <p:cBhvr additive="repl">
                                        <p:cTn id="46" dur="1" fill="hold">
                                          <p:stCondLst>
                                            <p:cond delay="0"/>
                                          </p:stCondLst>
                                        </p:cTn>
                                        <p:tgtEl>
                                          <p:spTgt spid="12290">
                                            <p:txEl>
                                              <p:pRg st="9" end="9"/>
                                            </p:txEl>
                                          </p:spTgt>
                                        </p:tgtEl>
                                        <p:attrNameLst>
                                          <p:attrName>style.visibility</p:attrName>
                                        </p:attrNameLst>
                                      </p:cBhvr>
                                      <p:to>
                                        <p:strVal val="visible"/>
                                      </p:to>
                                    </p:set>
                                    <p:anim calcmode="lin" valueType="num">
                                      <p:cBhvr>
                                        <p:cTn id="47" dur="500" fill="hold"/>
                                        <p:tgtEl>
                                          <p:spTgt spid="12290">
                                            <p:txEl>
                                              <p:pRg st="9" end="9"/>
                                            </p:txEl>
                                          </p:spTgt>
                                        </p:tgtEl>
                                        <p:attrNameLst>
                                          <p:attrName>ppt_x</p:attrName>
                                        </p:attrNameLst>
                                      </p:cBhvr>
                                      <p:tavLst>
                                        <p:tav tm="100000">
                                          <p:val>
                                            <p:strVal val="0-#ppt_w/2"/>
                                          </p:val>
                                        </p:tav>
                                        <p:tav tm="100000">
                                          <p:val>
                                            <p:strVal val="#ppt_x"/>
                                          </p:val>
                                        </p:tav>
                                      </p:tavLst>
                                    </p:anim>
                                    <p:anim calcmode="lin" valueType="num">
                                      <p:cBhvr>
                                        <p:cTn id="48" dur="500" fill="hold"/>
                                        <p:tgtEl>
                                          <p:spTgt spid="12290">
                                            <p:txEl>
                                              <p:pRg st="9" end="9"/>
                                            </p:txEl>
                                          </p:spTgt>
                                        </p:tgtEl>
                                        <p:attrNameLst>
                                          <p:attrName>ppt_y</p:attrName>
                                        </p:attrNameLst>
                                      </p:cBhvr>
                                      <p:tavLst>
                                        <p:tav tm="100000">
                                          <p:val>
                                            <p:strVal val="#ppt_y"/>
                                          </p:val>
                                        </p:tav>
                                        <p:tav tm="100000">
                                          <p:val>
                                            <p:strVal val="#ppt_y"/>
                                          </p:val>
                                        </p:tav>
                                      </p:tavLst>
                                    </p:anim>
                                  </p:childTnLst>
                                </p:cTn>
                              </p:par>
                              <p:par>
                                <p:cTn id="49" presetID="2" presetClass="entr" presetSubtype="8" fill="hold" nodeType="withEffect">
                                  <p:stCondLst>
                                    <p:cond delay="0"/>
                                  </p:stCondLst>
                                  <p:childTnLst>
                                    <p:set>
                                      <p:cBhvr additive="repl">
                                        <p:cTn id="50" dur="1" fill="hold">
                                          <p:stCondLst>
                                            <p:cond delay="0"/>
                                          </p:stCondLst>
                                        </p:cTn>
                                        <p:tgtEl>
                                          <p:spTgt spid="12290">
                                            <p:txEl>
                                              <p:pRg st="10" end="10"/>
                                            </p:txEl>
                                          </p:spTgt>
                                        </p:tgtEl>
                                        <p:attrNameLst>
                                          <p:attrName>style.visibility</p:attrName>
                                        </p:attrNameLst>
                                      </p:cBhvr>
                                      <p:to>
                                        <p:strVal val="visible"/>
                                      </p:to>
                                    </p:set>
                                    <p:anim calcmode="lin" valueType="num">
                                      <p:cBhvr>
                                        <p:cTn id="51" dur="500" fill="hold"/>
                                        <p:tgtEl>
                                          <p:spTgt spid="12290">
                                            <p:txEl>
                                              <p:pRg st="10" end="10"/>
                                            </p:txEl>
                                          </p:spTgt>
                                        </p:tgtEl>
                                        <p:attrNameLst>
                                          <p:attrName>ppt_x</p:attrName>
                                        </p:attrNameLst>
                                      </p:cBhvr>
                                      <p:tavLst>
                                        <p:tav tm="100000">
                                          <p:val>
                                            <p:strVal val="0-#ppt_w/2"/>
                                          </p:val>
                                        </p:tav>
                                        <p:tav tm="100000">
                                          <p:val>
                                            <p:strVal val="#ppt_x"/>
                                          </p:val>
                                        </p:tav>
                                      </p:tavLst>
                                    </p:anim>
                                    <p:anim calcmode="lin" valueType="num">
                                      <p:cBhvr>
                                        <p:cTn id="52" dur="500" fill="hold"/>
                                        <p:tgtEl>
                                          <p:spTgt spid="12290">
                                            <p:txEl>
                                              <p:pRg st="10" end="10"/>
                                            </p:txEl>
                                          </p:spTgt>
                                        </p:tgtEl>
                                        <p:attrNameLst>
                                          <p:attrName>ppt_y</p:attrName>
                                        </p:attrNameLst>
                                      </p:cBhvr>
                                      <p:tavLst>
                                        <p:tav tm="100000">
                                          <p:val>
                                            <p:strVal val="#ppt_y"/>
                                          </p:val>
                                        </p:tav>
                                        <p:tav tm="100000">
                                          <p:val>
                                            <p:strVal val="#ppt_y"/>
                                          </p:val>
                                        </p:tav>
                                      </p:tavLst>
                                    </p:anim>
                                  </p:childTnLst>
                                </p:cTn>
                              </p:par>
                              <p:par>
                                <p:cTn id="53" presetID="2" presetClass="entr" presetSubtype="8" fill="hold" nodeType="withEffect">
                                  <p:stCondLst>
                                    <p:cond delay="0"/>
                                  </p:stCondLst>
                                  <p:childTnLst>
                                    <p:set>
                                      <p:cBhvr additive="repl">
                                        <p:cTn id="54" dur="1" fill="hold">
                                          <p:stCondLst>
                                            <p:cond delay="0"/>
                                          </p:stCondLst>
                                        </p:cTn>
                                        <p:tgtEl>
                                          <p:spTgt spid="12290">
                                            <p:txEl>
                                              <p:pRg st="11" end="11"/>
                                            </p:txEl>
                                          </p:spTgt>
                                        </p:tgtEl>
                                        <p:attrNameLst>
                                          <p:attrName>style.visibility</p:attrName>
                                        </p:attrNameLst>
                                      </p:cBhvr>
                                      <p:to>
                                        <p:strVal val="visible"/>
                                      </p:to>
                                    </p:set>
                                    <p:anim calcmode="lin" valueType="num">
                                      <p:cBhvr>
                                        <p:cTn id="55" dur="500" fill="hold"/>
                                        <p:tgtEl>
                                          <p:spTgt spid="12290">
                                            <p:txEl>
                                              <p:pRg st="11" end="11"/>
                                            </p:txEl>
                                          </p:spTgt>
                                        </p:tgtEl>
                                        <p:attrNameLst>
                                          <p:attrName>ppt_x</p:attrName>
                                        </p:attrNameLst>
                                      </p:cBhvr>
                                      <p:tavLst>
                                        <p:tav tm="100000">
                                          <p:val>
                                            <p:strVal val="0-#ppt_w/2"/>
                                          </p:val>
                                        </p:tav>
                                        <p:tav tm="100000">
                                          <p:val>
                                            <p:strVal val="#ppt_x"/>
                                          </p:val>
                                        </p:tav>
                                      </p:tavLst>
                                    </p:anim>
                                    <p:anim calcmode="lin" valueType="num">
                                      <p:cBhvr>
                                        <p:cTn id="56" dur="500" fill="hold"/>
                                        <p:tgtEl>
                                          <p:spTgt spid="12290">
                                            <p:txEl>
                                              <p:pRg st="11" end="11"/>
                                            </p:txEl>
                                          </p:spTgt>
                                        </p:tgtEl>
                                        <p:attrNameLst>
                                          <p:attrName>ppt_y</p:attrName>
                                        </p:attrNameLst>
                                      </p:cBhvr>
                                      <p:tavLst>
                                        <p:tav tm="100000">
                                          <p:val>
                                            <p:strVal val="#ppt_y"/>
                                          </p:val>
                                        </p:tav>
                                        <p:tav tm="100000">
                                          <p:val>
                                            <p:strVal val="#ppt_y"/>
                                          </p:val>
                                        </p:tav>
                                      </p:tavLst>
                                    </p:anim>
                                  </p:childTnLst>
                                </p:cTn>
                              </p:par>
                              <p:par>
                                <p:cTn id="57" presetID="2" presetClass="entr" presetSubtype="8" fill="hold" nodeType="withEffect">
                                  <p:stCondLst>
                                    <p:cond delay="0"/>
                                  </p:stCondLst>
                                  <p:childTnLst>
                                    <p:set>
                                      <p:cBhvr additive="repl">
                                        <p:cTn id="58" dur="1" fill="hold">
                                          <p:stCondLst>
                                            <p:cond delay="0"/>
                                          </p:stCondLst>
                                        </p:cTn>
                                        <p:tgtEl>
                                          <p:spTgt spid="12290">
                                            <p:txEl>
                                              <p:pRg st="12" end="12"/>
                                            </p:txEl>
                                          </p:spTgt>
                                        </p:tgtEl>
                                        <p:attrNameLst>
                                          <p:attrName>style.visibility</p:attrName>
                                        </p:attrNameLst>
                                      </p:cBhvr>
                                      <p:to>
                                        <p:strVal val="visible"/>
                                      </p:to>
                                    </p:set>
                                    <p:anim calcmode="lin" valueType="num">
                                      <p:cBhvr>
                                        <p:cTn id="59" dur="500" fill="hold"/>
                                        <p:tgtEl>
                                          <p:spTgt spid="12290">
                                            <p:txEl>
                                              <p:pRg st="12" end="12"/>
                                            </p:txEl>
                                          </p:spTgt>
                                        </p:tgtEl>
                                        <p:attrNameLst>
                                          <p:attrName>ppt_x</p:attrName>
                                        </p:attrNameLst>
                                      </p:cBhvr>
                                      <p:tavLst>
                                        <p:tav tm="100000">
                                          <p:val>
                                            <p:strVal val="0-#ppt_w/2"/>
                                          </p:val>
                                        </p:tav>
                                        <p:tav tm="100000">
                                          <p:val>
                                            <p:strVal val="#ppt_x"/>
                                          </p:val>
                                        </p:tav>
                                      </p:tavLst>
                                    </p:anim>
                                    <p:anim calcmode="lin" valueType="num">
                                      <p:cBhvr>
                                        <p:cTn id="60" dur="500" fill="hold"/>
                                        <p:tgtEl>
                                          <p:spTgt spid="12290">
                                            <p:txEl>
                                              <p:pRg st="12" end="12"/>
                                            </p:txEl>
                                          </p:spTgt>
                                        </p:tgtEl>
                                        <p:attrNameLst>
                                          <p:attrName>ppt_y</p:attrName>
                                        </p:attrNameLst>
                                      </p:cBhvr>
                                      <p:tavLst>
                                        <p:tav tm="100000">
                                          <p:val>
                                            <p:strVal val="#ppt_y"/>
                                          </p:val>
                                        </p:tav>
                                        <p:tav tm="100000">
                                          <p:val>
                                            <p:strVal val="#ppt_y"/>
                                          </p:val>
                                        </p:tav>
                                      </p:tavLst>
                                    </p:anim>
                                  </p:childTnLst>
                                </p:cTn>
                              </p:par>
                              <p:par>
                                <p:cTn id="61" presetID="2" presetClass="entr" presetSubtype="8" fill="hold" nodeType="withEffect">
                                  <p:stCondLst>
                                    <p:cond delay="0"/>
                                  </p:stCondLst>
                                  <p:childTnLst>
                                    <p:set>
                                      <p:cBhvr additive="repl">
                                        <p:cTn id="62" dur="1" fill="hold">
                                          <p:stCondLst>
                                            <p:cond delay="0"/>
                                          </p:stCondLst>
                                        </p:cTn>
                                        <p:tgtEl>
                                          <p:spTgt spid="12290">
                                            <p:txEl>
                                              <p:pRg st="13" end="13"/>
                                            </p:txEl>
                                          </p:spTgt>
                                        </p:tgtEl>
                                        <p:attrNameLst>
                                          <p:attrName>style.visibility</p:attrName>
                                        </p:attrNameLst>
                                      </p:cBhvr>
                                      <p:to>
                                        <p:strVal val="visible"/>
                                      </p:to>
                                    </p:set>
                                    <p:anim calcmode="lin" valueType="num">
                                      <p:cBhvr>
                                        <p:cTn id="63" dur="500" fill="hold"/>
                                        <p:tgtEl>
                                          <p:spTgt spid="12290">
                                            <p:txEl>
                                              <p:pRg st="13" end="13"/>
                                            </p:txEl>
                                          </p:spTgt>
                                        </p:tgtEl>
                                        <p:attrNameLst>
                                          <p:attrName>ppt_x</p:attrName>
                                        </p:attrNameLst>
                                      </p:cBhvr>
                                      <p:tavLst>
                                        <p:tav tm="100000">
                                          <p:val>
                                            <p:strVal val="0-#ppt_w/2"/>
                                          </p:val>
                                        </p:tav>
                                        <p:tav tm="100000">
                                          <p:val>
                                            <p:strVal val="#ppt_x"/>
                                          </p:val>
                                        </p:tav>
                                      </p:tavLst>
                                    </p:anim>
                                    <p:anim calcmode="lin" valueType="num">
                                      <p:cBhvr>
                                        <p:cTn id="64" dur="500" fill="hold"/>
                                        <p:tgtEl>
                                          <p:spTgt spid="12290">
                                            <p:txEl>
                                              <p:pRg st="13" end="13"/>
                                            </p:txEl>
                                          </p:spTgt>
                                        </p:tgtEl>
                                        <p:attrNameLst>
                                          <p:attrName>ppt_y</p:attrName>
                                        </p:attrNameLst>
                                      </p:cBhvr>
                                      <p:tavLst>
                                        <p:tav tm="10000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1"/>
          <p:cNvSpPr>
            <a:spLocks noGrp="1" noChangeArrowheads="1"/>
          </p:cNvSpPr>
          <p:nvPr>
            <p:ph type="title"/>
          </p:nvPr>
        </p:nvSpPr>
        <p:spPr>
          <a:xfrm>
            <a:off x="457200" y="228600"/>
            <a:ext cx="7543800" cy="304800"/>
          </a:xfrm>
        </p:spPr>
        <p:txBody>
          <a:bodyPr>
            <a:normAutofit fontScale="90000"/>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600" dirty="0" smtClean="0"/>
          </a:p>
        </p:txBody>
      </p:sp>
      <p:sp>
        <p:nvSpPr>
          <p:cNvPr id="13314" name="Rectangle 2"/>
          <p:cNvSpPr>
            <a:spLocks noGrp="1" noChangeArrowheads="1"/>
          </p:cNvSpPr>
          <p:nvPr>
            <p:ph sz="quarter" idx="1"/>
          </p:nvPr>
        </p:nvSpPr>
        <p:spPr>
          <a:xfrm>
            <a:off x="457200" y="609600"/>
            <a:ext cx="8229600" cy="5521325"/>
          </a:xfrm>
        </p:spPr>
        <p:txBody>
          <a:bodyPr/>
          <a:lstStyle/>
          <a:p>
            <a:pPr marL="341630" indent="-341630" algn="just" eaLnBrk="1" hangingPunct="1">
              <a:lnSpc>
                <a:spcPct val="90000"/>
              </a:lnSpc>
              <a:spcBef>
                <a:spcPts val="600"/>
              </a:spcBef>
              <a:buClr>
                <a:srgbClr val="330066"/>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4000" b="1" dirty="0" smtClean="0"/>
              <a:t>Step 4: Implementing T&amp;D Programs</a:t>
            </a:r>
            <a:endParaRPr lang="en-US" sz="2400" b="1" dirty="0" smtClean="0"/>
          </a:p>
          <a:p>
            <a:pPr marL="690880" lvl="1" indent="-347980" eaLnBrk="1" hangingPunct="1">
              <a:lnSpc>
                <a:spcPct val="90000"/>
              </a:lnSpc>
              <a:spcBef>
                <a:spcPts val="550"/>
              </a:spcBef>
              <a:buClr>
                <a:srgbClr val="669999"/>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3200" dirty="0" smtClean="0"/>
              <a:t>Participants should know its merits</a:t>
            </a:r>
          </a:p>
          <a:p>
            <a:pPr marL="690880" lvl="1" indent="-347980" eaLnBrk="1" hangingPunct="1">
              <a:lnSpc>
                <a:spcPct val="90000"/>
              </a:lnSpc>
              <a:spcBef>
                <a:spcPts val="550"/>
              </a:spcBef>
              <a:buClr>
                <a:srgbClr val="669999"/>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3200" dirty="0" smtClean="0"/>
              <a:t>Need to carefully monitor a new program</a:t>
            </a:r>
          </a:p>
          <a:p>
            <a:pPr marL="690880" lvl="1" indent="-347980" eaLnBrk="1" hangingPunct="1">
              <a:lnSpc>
                <a:spcPct val="90000"/>
              </a:lnSpc>
              <a:spcBef>
                <a:spcPts val="550"/>
              </a:spcBef>
              <a:buClr>
                <a:srgbClr val="669999"/>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3200" dirty="0" smtClean="0"/>
              <a:t>Problems may include; scheduling the training around present work requirements, record keeping</a:t>
            </a:r>
          </a:p>
          <a:p>
            <a:pPr marL="690880" lvl="1" indent="-347980" eaLnBrk="1" hangingPunct="1">
              <a:lnSpc>
                <a:spcPct val="90000"/>
              </a:lnSpc>
              <a:spcBef>
                <a:spcPts val="550"/>
              </a:spcBef>
              <a:buClr>
                <a:srgbClr val="669999"/>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3200" dirty="0" smtClean="0"/>
              <a:t>External training requires considerable scheduling/planning (outsourced training).</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endCondLst>
                                    <p:cond delay="0"/>
                                  </p:endCondLst>
                                  <p:childTnLst>
                                    <p:set>
                                      <p:cBhvr additive="repl">
                                        <p:cTn id="6" dur="1" fill="hold">
                                          <p:stCondLst>
                                            <p:cond delay="0"/>
                                          </p:stCondLst>
                                        </p:cTn>
                                        <p:tgtEl>
                                          <p:spTgt spid="133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additive="repl">
                                        <p:cTn id="10" dur="1" fill="hold">
                                          <p:stCondLst>
                                            <p:cond delay="0"/>
                                          </p:stCondLst>
                                        </p:cTn>
                                        <p:tgtEl>
                                          <p:spTgt spid="13314">
                                            <p:txEl>
                                              <p:pRg st="0" end="0"/>
                                            </p:txEl>
                                          </p:spTgt>
                                        </p:tgtEl>
                                        <p:attrNameLst>
                                          <p:attrName>style.visibility</p:attrName>
                                        </p:attrNameLst>
                                      </p:cBhvr>
                                      <p:to>
                                        <p:strVal val="visible"/>
                                      </p:to>
                                    </p:set>
                                    <p:anim calcmode="lin" valueType="num">
                                      <p:cBhvr>
                                        <p:cTn id="11" dur="500" fill="hold"/>
                                        <p:tgtEl>
                                          <p:spTgt spid="13314">
                                            <p:txEl>
                                              <p:pRg st="0" end="0"/>
                                            </p:txEl>
                                          </p:spTgt>
                                        </p:tgtEl>
                                        <p:attrNameLst>
                                          <p:attrName>ppt_x</p:attrName>
                                        </p:attrNameLst>
                                      </p:cBhvr>
                                      <p:tavLst>
                                        <p:tav tm="100000">
                                          <p:val>
                                            <p:strVal val="0-#ppt_w/2"/>
                                          </p:val>
                                        </p:tav>
                                        <p:tav tm="100000">
                                          <p:val>
                                            <p:strVal val="#ppt_x"/>
                                          </p:val>
                                        </p:tav>
                                      </p:tavLst>
                                    </p:anim>
                                    <p:anim calcmode="lin" valueType="num">
                                      <p:cBhvr>
                                        <p:cTn id="12" dur="500" fill="hold"/>
                                        <p:tgtEl>
                                          <p:spTgt spid="13314">
                                            <p:txEl>
                                              <p:pRg st="0" end="0"/>
                                            </p:txEl>
                                          </p:spTgt>
                                        </p:tgtEl>
                                        <p:attrNameLst>
                                          <p:attrName>ppt_y</p:attrName>
                                        </p:attrNameLst>
                                      </p:cBhvr>
                                      <p:tavLst>
                                        <p:tav tm="100000">
                                          <p:val>
                                            <p:strVal val="#ppt_y"/>
                                          </p:val>
                                        </p:tav>
                                        <p:tav tm="100000">
                                          <p:val>
                                            <p:strVal val="#ppt_y"/>
                                          </p:val>
                                        </p:tav>
                                      </p:tavLst>
                                    </p:anim>
                                  </p:childTnLst>
                                </p:cTn>
                              </p:par>
                              <p:par>
                                <p:cTn id="13" presetID="2" presetClass="entr" presetSubtype="8" fill="hold" nodeType="withEffect">
                                  <p:stCondLst>
                                    <p:cond delay="0"/>
                                  </p:stCondLst>
                                  <p:childTnLst>
                                    <p:set>
                                      <p:cBhvr additive="repl">
                                        <p:cTn id="14" dur="1" fill="hold">
                                          <p:stCondLst>
                                            <p:cond delay="0"/>
                                          </p:stCondLst>
                                        </p:cTn>
                                        <p:tgtEl>
                                          <p:spTgt spid="13314">
                                            <p:txEl>
                                              <p:pRg st="1" end="1"/>
                                            </p:txEl>
                                          </p:spTgt>
                                        </p:tgtEl>
                                        <p:attrNameLst>
                                          <p:attrName>style.visibility</p:attrName>
                                        </p:attrNameLst>
                                      </p:cBhvr>
                                      <p:to>
                                        <p:strVal val="visible"/>
                                      </p:to>
                                    </p:set>
                                    <p:anim calcmode="lin" valueType="num">
                                      <p:cBhvr>
                                        <p:cTn id="15" dur="500" fill="hold"/>
                                        <p:tgtEl>
                                          <p:spTgt spid="13314">
                                            <p:txEl>
                                              <p:pRg st="1" end="1"/>
                                            </p:txEl>
                                          </p:spTgt>
                                        </p:tgtEl>
                                        <p:attrNameLst>
                                          <p:attrName>ppt_x</p:attrName>
                                        </p:attrNameLst>
                                      </p:cBhvr>
                                      <p:tavLst>
                                        <p:tav tm="100000">
                                          <p:val>
                                            <p:strVal val="0-#ppt_w/2"/>
                                          </p:val>
                                        </p:tav>
                                        <p:tav tm="100000">
                                          <p:val>
                                            <p:strVal val="#ppt_x"/>
                                          </p:val>
                                        </p:tav>
                                      </p:tavLst>
                                    </p:anim>
                                    <p:anim calcmode="lin" valueType="num">
                                      <p:cBhvr>
                                        <p:cTn id="16" dur="500" fill="hold"/>
                                        <p:tgtEl>
                                          <p:spTgt spid="13314">
                                            <p:txEl>
                                              <p:pRg st="1" end="1"/>
                                            </p:txEl>
                                          </p:spTgt>
                                        </p:tgtEl>
                                        <p:attrNameLst>
                                          <p:attrName>ppt_y</p:attrName>
                                        </p:attrNameLst>
                                      </p:cBhvr>
                                      <p:tavLst>
                                        <p:tav tm="100000">
                                          <p:val>
                                            <p:strVal val="#ppt_y"/>
                                          </p:val>
                                        </p:tav>
                                        <p:tav tm="100000">
                                          <p:val>
                                            <p:strVal val="#ppt_y"/>
                                          </p:val>
                                        </p:tav>
                                      </p:tavLst>
                                    </p:anim>
                                  </p:childTnLst>
                                </p:cTn>
                              </p:par>
                              <p:par>
                                <p:cTn id="17" presetID="2" presetClass="entr" presetSubtype="8" fill="hold" nodeType="withEffect">
                                  <p:stCondLst>
                                    <p:cond delay="0"/>
                                  </p:stCondLst>
                                  <p:childTnLst>
                                    <p:set>
                                      <p:cBhvr additive="repl">
                                        <p:cTn id="18" dur="1" fill="hold">
                                          <p:stCondLst>
                                            <p:cond delay="0"/>
                                          </p:stCondLst>
                                        </p:cTn>
                                        <p:tgtEl>
                                          <p:spTgt spid="13314">
                                            <p:txEl>
                                              <p:pRg st="2" end="2"/>
                                            </p:txEl>
                                          </p:spTgt>
                                        </p:tgtEl>
                                        <p:attrNameLst>
                                          <p:attrName>style.visibility</p:attrName>
                                        </p:attrNameLst>
                                      </p:cBhvr>
                                      <p:to>
                                        <p:strVal val="visible"/>
                                      </p:to>
                                    </p:set>
                                    <p:anim calcmode="lin" valueType="num">
                                      <p:cBhvr>
                                        <p:cTn id="19" dur="500" fill="hold"/>
                                        <p:tgtEl>
                                          <p:spTgt spid="13314">
                                            <p:txEl>
                                              <p:pRg st="2" end="2"/>
                                            </p:txEl>
                                          </p:spTgt>
                                        </p:tgtEl>
                                        <p:attrNameLst>
                                          <p:attrName>ppt_x</p:attrName>
                                        </p:attrNameLst>
                                      </p:cBhvr>
                                      <p:tavLst>
                                        <p:tav tm="100000">
                                          <p:val>
                                            <p:strVal val="0-#ppt_w/2"/>
                                          </p:val>
                                        </p:tav>
                                        <p:tav tm="100000">
                                          <p:val>
                                            <p:strVal val="#ppt_x"/>
                                          </p:val>
                                        </p:tav>
                                      </p:tavLst>
                                    </p:anim>
                                    <p:anim calcmode="lin" valueType="num">
                                      <p:cBhvr>
                                        <p:cTn id="20" dur="500" fill="hold"/>
                                        <p:tgtEl>
                                          <p:spTgt spid="13314">
                                            <p:txEl>
                                              <p:pRg st="2" end="2"/>
                                            </p:txEl>
                                          </p:spTgt>
                                        </p:tgtEl>
                                        <p:attrNameLst>
                                          <p:attrName>ppt_y</p:attrName>
                                        </p:attrNameLst>
                                      </p:cBhvr>
                                      <p:tavLst>
                                        <p:tav tm="100000">
                                          <p:val>
                                            <p:strVal val="#ppt_y"/>
                                          </p:val>
                                        </p:tav>
                                        <p:tav tm="100000">
                                          <p:val>
                                            <p:strVal val="#ppt_y"/>
                                          </p:val>
                                        </p:tav>
                                      </p:tavLst>
                                    </p:anim>
                                  </p:childTnLst>
                                </p:cTn>
                              </p:par>
                              <p:par>
                                <p:cTn id="21" presetID="2" presetClass="entr" presetSubtype="8" fill="hold" nodeType="withEffect">
                                  <p:stCondLst>
                                    <p:cond delay="0"/>
                                  </p:stCondLst>
                                  <p:childTnLst>
                                    <p:set>
                                      <p:cBhvr additive="repl">
                                        <p:cTn id="22" dur="1" fill="hold">
                                          <p:stCondLst>
                                            <p:cond delay="0"/>
                                          </p:stCondLst>
                                        </p:cTn>
                                        <p:tgtEl>
                                          <p:spTgt spid="13314">
                                            <p:txEl>
                                              <p:pRg st="3" end="3"/>
                                            </p:txEl>
                                          </p:spTgt>
                                        </p:tgtEl>
                                        <p:attrNameLst>
                                          <p:attrName>style.visibility</p:attrName>
                                        </p:attrNameLst>
                                      </p:cBhvr>
                                      <p:to>
                                        <p:strVal val="visible"/>
                                      </p:to>
                                    </p:set>
                                    <p:anim calcmode="lin" valueType="num">
                                      <p:cBhvr>
                                        <p:cTn id="23" dur="500" fill="hold"/>
                                        <p:tgtEl>
                                          <p:spTgt spid="13314">
                                            <p:txEl>
                                              <p:pRg st="3" end="3"/>
                                            </p:txEl>
                                          </p:spTgt>
                                        </p:tgtEl>
                                        <p:attrNameLst>
                                          <p:attrName>ppt_x</p:attrName>
                                        </p:attrNameLst>
                                      </p:cBhvr>
                                      <p:tavLst>
                                        <p:tav tm="100000">
                                          <p:val>
                                            <p:strVal val="0-#ppt_w/2"/>
                                          </p:val>
                                        </p:tav>
                                        <p:tav tm="100000">
                                          <p:val>
                                            <p:strVal val="#ppt_x"/>
                                          </p:val>
                                        </p:tav>
                                      </p:tavLst>
                                    </p:anim>
                                    <p:anim calcmode="lin" valueType="num">
                                      <p:cBhvr>
                                        <p:cTn id="24" dur="500" fill="hold"/>
                                        <p:tgtEl>
                                          <p:spTgt spid="13314">
                                            <p:txEl>
                                              <p:pRg st="3" end="3"/>
                                            </p:txEl>
                                          </p:spTgt>
                                        </p:tgtEl>
                                        <p:attrNameLst>
                                          <p:attrName>ppt_y</p:attrName>
                                        </p:attrNameLst>
                                      </p:cBhvr>
                                      <p:tavLst>
                                        <p:tav tm="100000">
                                          <p:val>
                                            <p:strVal val="#ppt_y"/>
                                          </p:val>
                                        </p:tav>
                                        <p:tav tm="100000">
                                          <p:val>
                                            <p:strVal val="#ppt_y"/>
                                          </p:val>
                                        </p:tav>
                                      </p:tavLst>
                                    </p:anim>
                                  </p:childTnLst>
                                </p:cTn>
                              </p:par>
                              <p:par>
                                <p:cTn id="25" presetID="2" presetClass="entr" presetSubtype="8" fill="hold" nodeType="withEffect">
                                  <p:stCondLst>
                                    <p:cond delay="0"/>
                                  </p:stCondLst>
                                  <p:childTnLst>
                                    <p:set>
                                      <p:cBhvr additive="repl">
                                        <p:cTn id="26" dur="1" fill="hold">
                                          <p:stCondLst>
                                            <p:cond delay="0"/>
                                          </p:stCondLst>
                                        </p:cTn>
                                        <p:tgtEl>
                                          <p:spTgt spid="13314">
                                            <p:txEl>
                                              <p:pRg st="4" end="4"/>
                                            </p:txEl>
                                          </p:spTgt>
                                        </p:tgtEl>
                                        <p:attrNameLst>
                                          <p:attrName>style.visibility</p:attrName>
                                        </p:attrNameLst>
                                      </p:cBhvr>
                                      <p:to>
                                        <p:strVal val="visible"/>
                                      </p:to>
                                    </p:set>
                                    <p:anim calcmode="lin" valueType="num">
                                      <p:cBhvr>
                                        <p:cTn id="27" dur="500" fill="hold"/>
                                        <p:tgtEl>
                                          <p:spTgt spid="13314">
                                            <p:txEl>
                                              <p:pRg st="4" end="4"/>
                                            </p:txEl>
                                          </p:spTgt>
                                        </p:tgtEl>
                                        <p:attrNameLst>
                                          <p:attrName>ppt_x</p:attrName>
                                        </p:attrNameLst>
                                      </p:cBhvr>
                                      <p:tavLst>
                                        <p:tav tm="100000">
                                          <p:val>
                                            <p:strVal val="0-#ppt_w/2"/>
                                          </p:val>
                                        </p:tav>
                                        <p:tav tm="100000">
                                          <p:val>
                                            <p:strVal val="#ppt_x"/>
                                          </p:val>
                                        </p:tav>
                                      </p:tavLst>
                                    </p:anim>
                                    <p:anim calcmode="lin" valueType="num">
                                      <p:cBhvr>
                                        <p:cTn id="28" dur="500" fill="hold"/>
                                        <p:tgtEl>
                                          <p:spTgt spid="13314">
                                            <p:txEl>
                                              <p:pRg st="4" end="4"/>
                                            </p:txEl>
                                          </p:spTgt>
                                        </p:tgtEl>
                                        <p:attrNameLst>
                                          <p:attrName>ppt_y</p:attrName>
                                        </p:attrNameLst>
                                      </p:cBhvr>
                                      <p:tavLst>
                                        <p:tav tm="10000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
          <p:cNvSpPr>
            <a:spLocks noGrp="1" noChangeArrowheads="1"/>
          </p:cNvSpPr>
          <p:nvPr>
            <p:ph type="title"/>
          </p:nvPr>
        </p:nvSpPr>
        <p:spPr>
          <a:xfrm>
            <a:off x="457200" y="381000"/>
            <a:ext cx="7543800" cy="381000"/>
          </a:xfrm>
        </p:spPr>
        <p:txBody>
          <a:bodyPr>
            <a:normAutofit fontScale="90000"/>
          </a:bodyPr>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600" dirty="0" smtClean="0"/>
          </a:p>
        </p:txBody>
      </p:sp>
      <p:sp>
        <p:nvSpPr>
          <p:cNvPr id="13315" name="Rectangle 2"/>
          <p:cNvSpPr>
            <a:spLocks noGrp="1" noChangeArrowheads="1"/>
          </p:cNvSpPr>
          <p:nvPr>
            <p:ph sz="quarter" idx="1"/>
          </p:nvPr>
        </p:nvSpPr>
        <p:spPr>
          <a:xfrm>
            <a:off x="457200" y="762000"/>
            <a:ext cx="8229600" cy="5368925"/>
          </a:xfrm>
        </p:spPr>
        <p:txBody>
          <a:bodyPr>
            <a:normAutofit/>
          </a:bodyPr>
          <a:lstStyle/>
          <a:p>
            <a:pPr marL="341630" indent="-341630" eaLnBrk="1" hangingPunct="1">
              <a:lnSpc>
                <a:spcPct val="90000"/>
              </a:lnSpc>
              <a:spcBef>
                <a:spcPts val="600"/>
              </a:spcBef>
              <a:buClr>
                <a:srgbClr val="330066"/>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3600" b="1" dirty="0" smtClean="0"/>
              <a:t>Step 5: Evaluating Training</a:t>
            </a:r>
          </a:p>
          <a:p>
            <a:pPr marL="690880" lvl="1" indent="-347980" eaLnBrk="1" hangingPunct="1">
              <a:lnSpc>
                <a:spcPct val="90000"/>
              </a:lnSpc>
              <a:spcBef>
                <a:spcPts val="475"/>
              </a:spcBef>
              <a:buClr>
                <a:srgbClr val="669999"/>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4400" dirty="0" smtClean="0"/>
              <a:t>Evaluation is “any attempt to obtain information (feedback) on the effects of a training program, and to assess the value of the training in the light of that information.</a:t>
            </a:r>
          </a:p>
          <a:p>
            <a:pPr marL="690880" lvl="1" indent="-347980" eaLnBrk="1" hangingPunct="1">
              <a:lnSpc>
                <a:spcPct val="90000"/>
              </a:lnSpc>
              <a:spcBef>
                <a:spcPts val="500"/>
              </a:spcBef>
              <a:buClr>
                <a:srgbClr val="669999"/>
              </a:buClr>
              <a:buSzPct val="70000"/>
              <a:buFont typeface="Wingdings" panose="05000000000000000000"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000" dirty="0" smtClean="0"/>
          </a:p>
        </p:txBody>
      </p:sp>
    </p:spTree>
  </p:cSld>
  <p:clrMapOvr>
    <a:masterClrMapping/>
  </p:clrMapOvr>
  <p:transition spd="med"/>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marL="341630" indent="-341630">
              <a:lnSpc>
                <a:spcPct val="90000"/>
              </a:lnSpc>
              <a:buClr>
                <a:srgbClr val="330066"/>
              </a:buClr>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b="1" dirty="0" smtClean="0"/>
              <a:t>Evaluation Levels</a:t>
            </a:r>
          </a:p>
          <a:p>
            <a:pPr marL="690880" lvl="1" indent="-347980">
              <a:lnSpc>
                <a:spcPct val="90000"/>
              </a:lnSpc>
              <a:spcBef>
                <a:spcPts val="500"/>
              </a:spcBef>
              <a:buClr>
                <a:srgbClr val="669999"/>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dirty="0" smtClean="0"/>
              <a:t>Level 1 – Reaction –evaluation measures how those who participated have reacted (immediate customer satisfaction).</a:t>
            </a:r>
          </a:p>
          <a:p>
            <a:pPr marL="690880" lvl="1" indent="-347980">
              <a:lnSpc>
                <a:spcPct val="90000"/>
              </a:lnSpc>
              <a:spcBef>
                <a:spcPts val="500"/>
              </a:spcBef>
              <a:buClr>
                <a:srgbClr val="669999"/>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dirty="0" smtClean="0"/>
              <a:t>Level 2 – evaluating learning – information on the extent to which learning objectives have been attained (how much was acquired).</a:t>
            </a:r>
          </a:p>
          <a:p>
            <a:pPr marL="690880" lvl="1" indent="-347980">
              <a:lnSpc>
                <a:spcPct val="90000"/>
              </a:lnSpc>
              <a:spcBef>
                <a:spcPts val="500"/>
              </a:spcBef>
              <a:buClr>
                <a:srgbClr val="669999"/>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dirty="0" smtClean="0"/>
              <a:t>Level 3 – Evaluating behavior – the extent to which behavior has changed as required after training.</a:t>
            </a:r>
          </a:p>
          <a:p>
            <a:pPr marL="690880" lvl="1" indent="-347980">
              <a:lnSpc>
                <a:spcPct val="90000"/>
              </a:lnSpc>
              <a:spcBef>
                <a:spcPts val="500"/>
              </a:spcBef>
              <a:buClr>
                <a:srgbClr val="669999"/>
              </a:buClr>
              <a:buSzPct val="7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dirty="0" smtClean="0"/>
              <a:t>Level 4 - Evaluating results – assessing the benefits of the training against costs.</a:t>
            </a:r>
          </a:p>
          <a:p>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algn="ctr"/>
            <a:endParaRPr lang="en-US" dirty="0" smtClean="0"/>
          </a:p>
          <a:p>
            <a:pPr algn="ctr"/>
            <a:endParaRPr lang="en-US" dirty="0" smtClean="0"/>
          </a:p>
          <a:p>
            <a:pPr algn="ctr"/>
            <a:endParaRPr lang="en-US" dirty="0" smtClean="0"/>
          </a:p>
          <a:p>
            <a:pPr algn="ctr"/>
            <a:r>
              <a:rPr lang="en-US" b="1" dirty="0" smtClean="0"/>
              <a:t>END OF LECTURE</a:t>
            </a:r>
            <a:endParaRPr lang="en-US" b="1"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Business Cooperate">
  <a:themeElements>
    <a:clrScheme name="Business Cooper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usiness Cooperate">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usiness Cooper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usiness Cooper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usiness Cooper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usiness Cooper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usiness Cooper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usiness Cooper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usiness Cooper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usiness Cooper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usiness Cooper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usiness Cooper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usiness Cooper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usiness Cooper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Oriel</Template>
  <TotalTime>68</TotalTime>
  <Words>1248</Words>
  <Application>Microsoft Office PowerPoint</Application>
  <PresentationFormat>On-screen Show (4:3)</PresentationFormat>
  <Paragraphs>134</Paragraphs>
  <Slides>26</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SimSun</vt:lpstr>
      <vt:lpstr>Algerian</vt:lpstr>
      <vt:lpstr>Arial</vt:lpstr>
      <vt:lpstr>Calibri</vt:lpstr>
      <vt:lpstr>Wingdings</vt:lpstr>
      <vt:lpstr>Business Cooperate</vt:lpstr>
      <vt:lpstr>TRAINING AND DEVELOPMENT</vt:lpstr>
      <vt:lpstr>Training</vt:lpstr>
      <vt:lpstr>PowerPoint Presentation</vt:lpstr>
      <vt:lpstr>Development</vt:lpstr>
      <vt:lpstr>TRAINING and Development DEFINED</vt:lpstr>
      <vt:lpstr>PowerPoint Presentation</vt:lpstr>
      <vt:lpstr>Training and development</vt:lpstr>
      <vt:lpstr>PowerPoint Presentation</vt:lpstr>
      <vt:lpstr>PowerPoint Presentation</vt:lpstr>
      <vt:lpstr>TRAINING AND DEVELOPMENT COMPARED</vt:lpstr>
      <vt:lpstr>PowerPoint Presentation</vt:lpstr>
      <vt:lpstr>REASONS FOR TRAINING</vt:lpstr>
      <vt:lpstr>PowerPoint Presentation</vt:lpstr>
      <vt:lpstr>PowerPoint Presentation</vt:lpstr>
      <vt:lpstr>PowerPoint Presentation</vt:lpstr>
      <vt:lpstr>Importance of training</vt:lpstr>
      <vt:lpstr>PowerPoint Presentation</vt:lpstr>
      <vt:lpstr>PowerPoint Presentation</vt:lpstr>
      <vt:lpstr>Training and Development Trends</vt:lpstr>
      <vt:lpstr>     TRAINING&amp;DEVELOPMENT PROCESS </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Training &amp; Development</dc:title>
  <dc:creator>user</dc:creator>
  <cp:lastModifiedBy>1012 G2</cp:lastModifiedBy>
  <cp:revision>91</cp:revision>
  <dcterms:created xsi:type="dcterms:W3CDTF">2013-10-03T19:07:00Z</dcterms:created>
  <dcterms:modified xsi:type="dcterms:W3CDTF">2025-01-15T12:04:19Z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2B84B7C4DC6A4DB48049BA412D38872C</vt:lpwstr>
  </property>
  <property fmtid="{D5CDD505-2E9C-101B-9397-08002B2CF9AE}" pid="3" name="KSOProductBuildVer">
    <vt:lpwstr>1033-11.2.0.11440</vt:lpwstr>
  </property>
</Properties>
</file>